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49240"/>
            <a:ext cx="12188952" cy="1508760"/>
          </a:xfrm>
          <a:prstGeom prst="rect">
            <a:avLst/>
          </a:prstGeom>
          <a:solidFill>
            <a:srgbClr val="12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303520"/>
            <a:ext cx="12188952" cy="73152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RESPOND Guatemala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AED6F1"/>
                </a:solidFill>
              </a:rPr>
              <a:t>Digital Trauma Registry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933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D8AC4"/>
                </a:solidFill>
              </a:rPr>
              <a:t>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9572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AED6F1"/>
                </a:solidFill>
              </a:rPr>
              <a:t>Platform Overview  ·  HIPAA Compliance  ·  Backend Options  ·  Scaling Strategy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54680"/>
            <a:ext cx="2560320" cy="1143000"/>
          </a:xfrm>
          <a:prstGeom prst="rect">
            <a:avLst/>
          </a:prstGeom>
          <a:solidFill>
            <a:srgbClr val="1E4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39C12"/>
                </a:solidFill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22191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ED6F1"/>
                </a:solidFill>
              </a:rPr>
              <a:t>form steps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3154680"/>
            <a:ext cx="2560320" cy="1143000"/>
          </a:xfrm>
          <a:prstGeom prst="rect">
            <a:avLst/>
          </a:prstGeom>
          <a:solidFill>
            <a:srgbClr val="1E4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320040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39C12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822191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ED6F1"/>
                </a:solidFill>
              </a:rPr>
              <a:t>languages EN/ES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154680"/>
            <a:ext cx="2560320" cy="1143000"/>
          </a:xfrm>
          <a:prstGeom prst="rect">
            <a:avLst/>
          </a:prstGeom>
          <a:solidFill>
            <a:srgbClr val="1E4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20040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39C12"/>
                </a:solidFill>
              </a:rPr>
              <a:t>$0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822191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ED6F1"/>
                </a:solidFill>
              </a:rPr>
              <a:t>current cost/mo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3154680"/>
            <a:ext cx="2560320" cy="1143000"/>
          </a:xfrm>
          <a:prstGeom prst="rect">
            <a:avLst/>
          </a:prstGeom>
          <a:solidFill>
            <a:srgbClr val="1E4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320040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39C12"/>
                </a:solidFill>
              </a:rPr>
              <a:t>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822191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ED6F1"/>
                </a:solidFill>
              </a:rPr>
              <a:t>patients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86400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D8AC4"/>
                </a:solidFill>
              </a:rPr>
              <a:t>trauma-registry.vercel.app/en/patients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548640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F8C8D"/>
                </a:solidFill>
              </a:rP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 is RESPOND Guatemala?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ED6F1"/>
                </a:solidFill>
              </a:rPr>
              <a:t>A web platform for prospective trauma registry in resource-limited hospitals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5394960" cy="521208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0392B"/>
                </a:solidFill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29968"/>
            <a:ext cx="5074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▸  No digital trauma registry systems in Guatemalan hospitals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834640"/>
            <a:ext cx="5074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▸  Paper-based records prevent analysis and quality improvement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639312"/>
            <a:ext cx="5074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▸  Without data there is no evidence to request resources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443984"/>
            <a:ext cx="5074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▸  Commercial solutions cost $50,000–$200,000/year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5248656"/>
            <a:ext cx="5074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▸  Existing systems require constant internet connectivity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325880"/>
            <a:ext cx="5943600" cy="521208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444752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8B4C"/>
                </a:solidFill>
              </a:rPr>
              <a:t>Our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029968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Free web app, accessible from any device with a browser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688336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Works offline (PWA) — syncs when internet returns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3346704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16-step form optimized for real clinical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4005072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Automatic GCS and ISS calculation — no manual tables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4663440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Real-time dashboard for the trauma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5321808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Bilingual English/Spanish — ready for immediate 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5980176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Current operating cost: $0/month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RESPOND Guatemala · Trauma Registry ·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Platform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ED6F1"/>
                </a:solidFill>
              </a:rPr>
              <a:t>Current MVP — all modules live at trauma-registry.vercel.app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810512" cy="1719072"/>
          </a:xfrm>
          <a:prstGeom prst="rect">
            <a:avLst/>
          </a:prstGeom>
          <a:solidFill>
            <a:srgbClr val="EBF5FB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63040"/>
            <a:ext cx="18105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E50"/>
                </a:solidFill>
              </a:rPr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240280"/>
            <a:ext cx="18105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6B"/>
                </a:solidFill>
              </a:rPr>
              <a:t>16-Step</a:t>
            </a:r>
          </a:p>
          <a:p>
            <a:pPr algn="ctr"/>
            <a:r>
              <a:rPr sz="1300" b="1" i="0">
                <a:solidFill>
                  <a:srgbClr val="1B3A6B"/>
                </a:solidFill>
              </a:rPr>
              <a:t>Clinical 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9424" y="1371600"/>
            <a:ext cx="1810512" cy="1719072"/>
          </a:xfrm>
          <a:prstGeom prst="rect">
            <a:avLst/>
          </a:prstGeom>
          <a:solidFill>
            <a:srgbClr val="D5F5E3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9424" y="1463040"/>
            <a:ext cx="18105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E50"/>
                </a:solidFill>
              </a:rPr>
              <a:t>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9424" y="2240280"/>
            <a:ext cx="18105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6B"/>
                </a:solidFill>
              </a:rPr>
              <a:t>Automatic</a:t>
            </a:r>
          </a:p>
          <a:p>
            <a:pPr algn="ctr"/>
            <a:r>
              <a:rPr sz="1300" b="1" i="0">
                <a:solidFill>
                  <a:srgbClr val="1B3A6B"/>
                </a:solidFill>
              </a:rPr>
              <a:t>GCS Calculator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4528" y="1371600"/>
            <a:ext cx="1810512" cy="1719072"/>
          </a:xfrm>
          <a:prstGeom prst="rect">
            <a:avLst/>
          </a:prstGeom>
          <a:solidFill>
            <a:srgbClr val="EBF5FB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24528" y="1463040"/>
            <a:ext cx="18105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E50"/>
                </a:solidFill>
              </a:rP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2240280"/>
            <a:ext cx="18105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6B"/>
                </a:solidFill>
              </a:rPr>
              <a:t>Auto ISS</a:t>
            </a:r>
          </a:p>
          <a:p>
            <a:pPr algn="ctr"/>
            <a:r>
              <a:rPr sz="1300" b="1" i="0">
                <a:solidFill>
                  <a:srgbClr val="1B3A6B"/>
                </a:solidFill>
              </a:rPr>
              <a:t>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1371600"/>
            <a:ext cx="1810512" cy="1719072"/>
          </a:xfrm>
          <a:prstGeom prst="rect">
            <a:avLst/>
          </a:prstGeom>
          <a:solidFill>
            <a:srgbClr val="D5F5E3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1463040"/>
            <a:ext cx="18105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E50"/>
                </a:solidFill>
              </a:rPr>
              <a:t>🗺️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2240280"/>
            <a:ext cx="18105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6B"/>
                </a:solidFill>
              </a:rPr>
              <a:t>Interactive</a:t>
            </a:r>
          </a:p>
          <a:p>
            <a:pPr algn="ctr"/>
            <a:r>
              <a:rPr sz="1300" b="1" i="0">
                <a:solidFill>
                  <a:srgbClr val="1B3A6B"/>
                </a:solidFill>
              </a:rPr>
              <a:t>Body Map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74736" y="1371600"/>
            <a:ext cx="1810512" cy="1719072"/>
          </a:xfrm>
          <a:prstGeom prst="rect">
            <a:avLst/>
          </a:prstGeom>
          <a:solidFill>
            <a:srgbClr val="EBF5FB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74736" y="1463040"/>
            <a:ext cx="18105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E50"/>
                </a:solidFill>
              </a:rPr>
              <a:t>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4736" y="2240280"/>
            <a:ext cx="18105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6B"/>
                </a:solidFill>
              </a:rPr>
              <a:t>Real-Time</a:t>
            </a:r>
          </a:p>
          <a:p>
            <a:pPr algn="ctr"/>
            <a:r>
              <a:rPr sz="1300" b="1" i="0">
                <a:solidFill>
                  <a:srgbClr val="1B3A6B"/>
                </a:solidFill>
              </a:rPr>
              <a:t>Dashboard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49840" y="1371600"/>
            <a:ext cx="1810512" cy="1719072"/>
          </a:xfrm>
          <a:prstGeom prst="rect">
            <a:avLst/>
          </a:prstGeom>
          <a:solidFill>
            <a:srgbClr val="D5F5E3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0" y="1463040"/>
            <a:ext cx="18105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E50"/>
                </a:solidFill>
              </a:rPr>
              <a:t>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2240280"/>
            <a:ext cx="18105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6B"/>
                </a:solidFill>
              </a:rPr>
              <a:t>Excel</a:t>
            </a:r>
          </a:p>
          <a:p>
            <a:pPr algn="ctr"/>
            <a:r>
              <a:rPr sz="1300" b="1" i="0">
                <a:solidFill>
                  <a:srgbClr val="1B3A6B"/>
                </a:solidFill>
              </a:rPr>
              <a:t>Export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291840"/>
            <a:ext cx="1810512" cy="1719072"/>
          </a:xfrm>
          <a:prstGeom prst="rect">
            <a:avLst/>
          </a:prstGeom>
          <a:solidFill>
            <a:srgbClr val="EBF5FB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3383280"/>
            <a:ext cx="18105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E50"/>
                </a:solidFill>
              </a:rPr>
              <a:t>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4160520"/>
            <a:ext cx="18105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6B"/>
                </a:solidFill>
              </a:rPr>
              <a:t>Offline Mode</a:t>
            </a:r>
          </a:p>
          <a:p>
            <a:pPr algn="ctr"/>
            <a:r>
              <a:rPr sz="1300" b="1" i="0">
                <a:solidFill>
                  <a:srgbClr val="1B3A6B"/>
                </a:solidFill>
              </a:rPr>
              <a:t>(PWA)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49424" y="3291840"/>
            <a:ext cx="1810512" cy="1719072"/>
          </a:xfrm>
          <a:prstGeom prst="rect">
            <a:avLst/>
          </a:prstGeom>
          <a:solidFill>
            <a:srgbClr val="D5F5E3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49424" y="3383280"/>
            <a:ext cx="18105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E50"/>
                </a:solidFill>
              </a:rPr>
              <a:t>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9424" y="4160520"/>
            <a:ext cx="18105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6B"/>
                </a:solidFill>
              </a:rPr>
              <a:t>Bilingual</a:t>
            </a:r>
          </a:p>
          <a:p>
            <a:pPr algn="ctr"/>
            <a:r>
              <a:rPr sz="1300" b="1" i="0">
                <a:solidFill>
                  <a:srgbClr val="1B3A6B"/>
                </a:solidFill>
              </a:rPr>
              <a:t>EN / 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24528" y="3291840"/>
            <a:ext cx="1810512" cy="1719072"/>
          </a:xfrm>
          <a:prstGeom prst="rect">
            <a:avLst/>
          </a:prstGeom>
          <a:solidFill>
            <a:srgbClr val="EBF5FB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24528" y="3383280"/>
            <a:ext cx="18105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E50"/>
                </a:solidFill>
              </a:rPr>
              <a:t>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24528" y="4160520"/>
            <a:ext cx="18105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6B"/>
                </a:solidFill>
              </a:rPr>
              <a:t>Role-Based</a:t>
            </a:r>
          </a:p>
          <a:p>
            <a:pPr algn="ctr"/>
            <a:r>
              <a:rPr sz="1300" b="1" i="0">
                <a:solidFill>
                  <a:srgbClr val="1B3A6B"/>
                </a:solidFill>
              </a:rPr>
              <a:t>Auth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99632" y="3291840"/>
            <a:ext cx="1810512" cy="1719072"/>
          </a:xfrm>
          <a:prstGeom prst="rect">
            <a:avLst/>
          </a:prstGeom>
          <a:solidFill>
            <a:srgbClr val="D5F5E3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99632" y="3383280"/>
            <a:ext cx="18105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E50"/>
                </a:solidFill>
              </a:rPr>
              <a:t>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9632" y="4160520"/>
            <a:ext cx="18105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6B"/>
                </a:solidFill>
              </a:rPr>
              <a:t>Multi-Hospital</a:t>
            </a:r>
          </a:p>
          <a:p>
            <a:pPr algn="ctr"/>
            <a:r>
              <a:rPr sz="1300" b="1" i="0">
                <a:solidFill>
                  <a:srgbClr val="1B3A6B"/>
                </a:solidFill>
              </a:rPr>
              <a:t>Ready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74736" y="3291840"/>
            <a:ext cx="1810512" cy="1719072"/>
          </a:xfrm>
          <a:prstGeom prst="rect">
            <a:avLst/>
          </a:prstGeom>
          <a:solidFill>
            <a:srgbClr val="EBF5FB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74736" y="3383280"/>
            <a:ext cx="18105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E50"/>
                </a:solidFill>
              </a:rPr>
              <a:t>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74736" y="4160520"/>
            <a:ext cx="18105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6B"/>
                </a:solidFill>
              </a:rPr>
              <a:t>Mobile</a:t>
            </a:r>
          </a:p>
          <a:p>
            <a:pPr algn="ctr"/>
            <a:r>
              <a:rPr sz="1300" b="1" i="0">
                <a:solidFill>
                  <a:srgbClr val="1B3A6B"/>
                </a:solidFill>
              </a:rPr>
              <a:t>Friendly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49840" y="3291840"/>
            <a:ext cx="1810512" cy="1719072"/>
          </a:xfrm>
          <a:prstGeom prst="rect">
            <a:avLst/>
          </a:prstGeom>
          <a:solidFill>
            <a:srgbClr val="D5F5E3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49840" y="3383280"/>
            <a:ext cx="18105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E50"/>
                </a:solidFill>
              </a:rPr>
              <a:t>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9840" y="4160520"/>
            <a:ext cx="18105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6B"/>
                </a:solidFill>
              </a:rPr>
              <a:t>Auto</a:t>
            </a:r>
          </a:p>
          <a:p>
            <a:pPr algn="ctr"/>
            <a:r>
              <a:rPr sz="1300" b="1" i="0">
                <a:solidFill>
                  <a:srgbClr val="1B3A6B"/>
                </a:solidFill>
              </a:rPr>
              <a:t>Sync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RESPOND Guatemala · Trauma Registry ·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ED6F1"/>
                </a:solidFill>
              </a:rPr>
              <a:t>Modern production-grade stack — $0/month operating cost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5394960" cy="521208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3A6B"/>
                </a:solidFill>
              </a:rPr>
              <a:t>Tech Stack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93392"/>
            <a:ext cx="53035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020824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⚡ Next.js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7168" y="2039112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Full-stack React framework (frontend + backend)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523744"/>
            <a:ext cx="53035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551176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🔷 TypeScript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256946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Static typing — fewer bugs in production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054096"/>
            <a:ext cx="53035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081528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🗄️ Supabase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3099815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PostgreSQL database + authentication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584448"/>
            <a:ext cx="53035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611879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🎨 Tailwind CSS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7168" y="3630168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Responsive mobile-first design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114800"/>
            <a:ext cx="53035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142231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🧩 Shadcn/UI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87168" y="4160520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Accessible, consistent UI components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645152"/>
            <a:ext cx="53035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672583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☁️ Vercel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87168" y="4690872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Global hosting, CDN, auto-deploys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175504"/>
            <a:ext cx="53035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202936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📴 Service Worker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87168" y="5221223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Offline-first PWA with background sync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1325880"/>
            <a:ext cx="5943600" cy="52120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1444752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3A6B"/>
                </a:solidFill>
              </a:rPr>
              <a:t>Current Data Flow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0" y="1965960"/>
            <a:ext cx="5577840" cy="5943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44768" y="2057400"/>
            <a:ext cx="54498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👤  User (browser)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26517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6DB4"/>
                </a:solidFill>
              </a:rPr>
              <a:t>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0760" y="2971800"/>
            <a:ext cx="5577840" cy="59436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44768" y="3063240"/>
            <a:ext cx="54498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📱  Next.js App (Vercel)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3657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6DB4"/>
                </a:solidFill>
              </a:rPr>
              <a:t>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760" y="3977639"/>
            <a:ext cx="5577840" cy="594360"/>
          </a:xfrm>
          <a:prstGeom prst="rect">
            <a:avLst/>
          </a:prstGeom>
          <a:solidFill>
            <a:srgbClr val="1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44768" y="4069079"/>
            <a:ext cx="54498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🔐  Supabase Auth  (JWT)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4663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6DB4"/>
                </a:solidFill>
              </a:rPr>
              <a:t>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80760" y="4983479"/>
            <a:ext cx="5577840" cy="594360"/>
          </a:xfrm>
          <a:prstGeom prst="rect">
            <a:avLst/>
          </a:prstGeom>
          <a:solidFill>
            <a:srgbClr val="0E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44768" y="5074919"/>
            <a:ext cx="54498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🗄️  Supabase PostgreSQL  (RLS)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566927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6DB4"/>
                </a:solidFill>
              </a:rPr>
              <a:t>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60" y="5989319"/>
            <a:ext cx="5577840" cy="5943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44768" y="6080759"/>
            <a:ext cx="54498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📊  Dashboard / Excel Export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RESPOND Guatemala · Trauma Registry ·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Platform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ED6F1"/>
                </a:solidFill>
              </a:rPr>
              <a:t>What is already in place vs. what is needed for HIPAA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5577840" cy="521208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8B4C"/>
                </a:solidFill>
              </a:rPr>
              <a:t>✅  Already Implemented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011680"/>
            <a:ext cx="54864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03911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B4C"/>
                </a:solidFill>
              </a:rPr>
              <a:t>🔒 HTTPS/TLS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2066543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All traffic encrypted in transit — auto cert by Vercel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633472"/>
            <a:ext cx="54864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660904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B4C"/>
                </a:solidFill>
              </a:rPr>
              <a:t>🔐 JWT 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268833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Signed tokens with automatic rotation (Supabase Auth)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255264"/>
            <a:ext cx="54864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282696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B4C"/>
                </a:solidFill>
              </a:rPr>
              <a:t>🛡️ Row Level 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8" y="33101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Each user sees only their own patients (PostgreSQL RLS)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877056"/>
            <a:ext cx="54864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904487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B4C"/>
                </a:solidFill>
              </a:rPr>
              <a:t>💾 Encryption at 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39319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AES-256 database encryption (Supabase/AWS)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498848"/>
            <a:ext cx="54864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52628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B4C"/>
                </a:solidFill>
              </a:rPr>
              <a:t>🌐 DDoS Protection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455371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Vercel Edge Network — included by default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120640"/>
            <a:ext cx="54864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514807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B4C"/>
                </a:solidFill>
              </a:rPr>
              <a:t>🔑 Env Variables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95728" y="5175504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Secrets in Vercel, never in source code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742432"/>
            <a:ext cx="54864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769864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B4C"/>
                </a:solidFill>
              </a:rPr>
              <a:t>📦 SOC 2 Type II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95728" y="579729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Supabase certified — annual security audits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1325880"/>
            <a:ext cx="5760720" cy="521208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1444752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⚠️  Required for HIPAA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2011680"/>
            <a:ext cx="56692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203911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⏱️ Session Timeout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2066543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Auto-logout after 15 min of inactivity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2633472"/>
            <a:ext cx="56692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2660904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📋 Audit Log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268833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Who accessed/modified which patient and when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3255264"/>
            <a:ext cx="56692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3282696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📱 MFA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3101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2-factor authentication for all users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3877056"/>
            <a:ext cx="56692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3640" y="3904487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🔏 Signed BAA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39319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Legal contract with the database provider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4498848"/>
            <a:ext cx="56692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452628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📄 Privacy Policy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455371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Published Notice of Privacy Practices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5120640"/>
            <a:ext cx="56692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3640" y="514807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📊 Risk Assessment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517550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Formal security risk assessment document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72200" y="5742432"/>
            <a:ext cx="56692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63640" y="5769864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🎓 Training Records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579729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Documentation of staff HIPAA training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RESPOND Guatemala · Trauma Registry ·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Why Do We Need HIPAA Compliance?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ED6F1"/>
                </a:solidFill>
              </a:rPr>
              <a:t>Required by mentors — standard for US-affiliated clinical research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3749039" cy="521208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⚖️  What is HIPAA?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993392"/>
            <a:ext cx="340156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Health Insurance Portability</a:t>
            </a:r>
          </a:p>
          <a:p>
            <a:pPr algn="l"/>
            <a:r>
              <a:rPr sz="1300" b="0" i="0">
                <a:solidFill>
                  <a:srgbClr val="2C3E50"/>
                </a:solidFill>
              </a:rPr>
              <a:t>and Accountability Act</a:t>
            </a:r>
          </a:p>
          <a:p>
            <a:pPr algn="l"/>
            <a:r>
              <a:rPr sz="1300" b="0" i="0">
                <a:solidFill>
                  <a:srgbClr val="2C3E50"/>
                </a:solidFill>
              </a:rPr>
              <a:t>(US federal law, 1996)</a:t>
            </a:r>
          </a:p>
          <a:p>
            <a:pPr algn="l"/>
            <a:r>
              <a:rPr sz="1300" b="0" i="0">
                <a:solidFill>
                  <a:srgbClr val="2C3E50"/>
                </a:solidFill>
              </a:rPr>
              <a:t/>
            </a:r>
          </a:p>
          <a:p>
            <a:pPr algn="l"/>
            <a:r>
              <a:rPr sz="1300" b="0" i="0">
                <a:solidFill>
                  <a:srgbClr val="2C3E50"/>
                </a:solidFill>
              </a:rPr>
              <a:t>Protects identifiable patient</a:t>
            </a:r>
          </a:p>
          <a:p>
            <a:pPr algn="l"/>
            <a:r>
              <a:rPr sz="1300" b="0" i="0">
                <a:solidFill>
                  <a:srgbClr val="2C3E50"/>
                </a:solidFill>
              </a:rPr>
              <a:t>medical information</a:t>
            </a:r>
          </a:p>
          <a:p>
            <a:pPr algn="l"/>
            <a:r>
              <a:rPr sz="1300" b="0" i="0">
                <a:solidFill>
                  <a:srgbClr val="2C3E50"/>
                </a:solidFill>
              </a:rPr>
              <a:t>(PHI — Protected Health</a:t>
            </a:r>
          </a:p>
          <a:p>
            <a:pPr algn="l"/>
            <a:r>
              <a:rPr sz="1300" b="0" i="0">
                <a:solidFill>
                  <a:srgbClr val="2C3E50"/>
                </a:solidFill>
              </a:rPr>
              <a:t>Information)</a:t>
            </a:r>
          </a:p>
          <a:p>
            <a:pPr algn="l"/>
            <a:r>
              <a:rPr sz="1300" b="0" i="0">
                <a:solidFill>
                  <a:srgbClr val="2C3E50"/>
                </a:solidFill>
              </a:rPr>
              <a:t/>
            </a:r>
          </a:p>
          <a:p>
            <a:pPr algn="l"/>
            <a:r>
              <a:rPr sz="1300" b="0" i="0">
                <a:solidFill>
                  <a:srgbClr val="2C3E50"/>
                </a:solidFill>
              </a:rPr>
              <a:t>Requires:</a:t>
            </a:r>
          </a:p>
          <a:p>
            <a:pPr algn="l"/>
            <a:r>
              <a:rPr sz="1300" b="0" i="0">
                <a:solidFill>
                  <a:srgbClr val="2C3E50"/>
                </a:solidFill>
              </a:rPr>
              <a:t>• Confidentiality</a:t>
            </a:r>
          </a:p>
          <a:p>
            <a:pPr algn="l"/>
            <a:r>
              <a:rPr sz="1300" b="0" i="0">
                <a:solidFill>
                  <a:srgbClr val="2C3E50"/>
                </a:solidFill>
              </a:rPr>
              <a:t>• Integrity</a:t>
            </a:r>
          </a:p>
          <a:p>
            <a:pPr algn="l"/>
            <a:r>
              <a:rPr sz="1300" b="0" i="0">
                <a:solidFill>
                  <a:srgbClr val="2C3E50"/>
                </a:solidFill>
              </a:rPr>
              <a:t>• Availability</a:t>
            </a:r>
          </a:p>
          <a:p>
            <a:pPr algn="l"/>
            <a:r>
              <a:rPr sz="1300" b="0" i="0">
                <a:solidFill>
                  <a:srgbClr val="2C3E50"/>
                </a:solidFill>
              </a:rPr>
              <a:t>of all patient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325880"/>
            <a:ext cx="3657600" cy="521208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444752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7E22"/>
                </a:solidFill>
              </a:rPr>
              <a:t>🌎  Does it Apply
     in Guatemala?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286000"/>
            <a:ext cx="340156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Technically NO —</a:t>
            </a:r>
          </a:p>
          <a:p>
            <a:pPr algn="l"/>
            <a:r>
              <a:rPr sz="1300" b="0" i="0">
                <a:solidFill>
                  <a:srgbClr val="2C3E50"/>
                </a:solidFill>
              </a:rPr>
              <a:t>HIPAA is US law.</a:t>
            </a:r>
          </a:p>
          <a:p>
            <a:pPr algn="l"/>
            <a:r>
              <a:rPr sz="1300" b="0" i="0">
                <a:solidFill>
                  <a:srgbClr val="2C3E50"/>
                </a:solidFill>
              </a:rPr>
              <a:t/>
            </a:r>
          </a:p>
          <a:p>
            <a:pPr algn="l"/>
            <a:r>
              <a:rPr sz="1300" b="0" i="0">
                <a:solidFill>
                  <a:srgbClr val="2C3E50"/>
                </a:solidFill>
              </a:rPr>
              <a:t>BUT it applies when:</a:t>
            </a:r>
          </a:p>
          <a:p>
            <a:pPr algn="l"/>
            <a:r>
              <a:rPr sz="1300" b="0" i="0">
                <a:solidFill>
                  <a:srgbClr val="2C3E50"/>
                </a:solidFill>
              </a:rPr>
              <a:t/>
            </a:r>
          </a:p>
          <a:p>
            <a:pPr algn="l"/>
            <a:r>
              <a:rPr sz="1300" b="0" i="0">
                <a:solidFill>
                  <a:srgbClr val="2C3E50"/>
                </a:solidFill>
              </a:rPr>
              <a:t>• Mentors are at a US</a:t>
            </a:r>
          </a:p>
          <a:p>
            <a:pPr algn="l"/>
            <a:r>
              <a:rPr sz="1300" b="0" i="0">
                <a:solidFill>
                  <a:srgbClr val="2C3E50"/>
                </a:solidFill>
              </a:rPr>
              <a:t>  institution (BU)</a:t>
            </a:r>
          </a:p>
          <a:p>
            <a:pPr algn="l"/>
            <a:r>
              <a:rPr sz="1300" b="0" i="0">
                <a:solidFill>
                  <a:srgbClr val="2C3E50"/>
                </a:solidFill>
              </a:rPr>
              <a:t/>
            </a:r>
          </a:p>
          <a:p>
            <a:pPr algn="l"/>
            <a:r>
              <a:rPr sz="1300" b="0" i="0">
                <a:solidFill>
                  <a:srgbClr val="2C3E50"/>
                </a:solidFill>
              </a:rPr>
              <a:t>• Funding is from NIH</a:t>
            </a:r>
          </a:p>
          <a:p>
            <a:pPr algn="l"/>
            <a:r>
              <a:rPr sz="1300" b="0" i="0">
                <a:solidFill>
                  <a:srgbClr val="2C3E50"/>
                </a:solidFill>
              </a:rPr>
              <a:t>  or US sources</a:t>
            </a:r>
          </a:p>
          <a:p>
            <a:pPr algn="l"/>
            <a:r>
              <a:rPr sz="1300" b="0" i="0">
                <a:solidFill>
                  <a:srgbClr val="2C3E50"/>
                </a:solidFill>
              </a:rPr>
              <a:t/>
            </a:r>
          </a:p>
          <a:p>
            <a:pPr algn="l"/>
            <a:r>
              <a:rPr sz="1300" b="0" i="0">
                <a:solidFill>
                  <a:srgbClr val="2C3E50"/>
                </a:solidFill>
              </a:rPr>
              <a:t>• Data will be published</a:t>
            </a:r>
          </a:p>
          <a:p>
            <a:pPr algn="l"/>
            <a:r>
              <a:rPr sz="1300" b="0" i="0">
                <a:solidFill>
                  <a:srgbClr val="2C3E50"/>
                </a:solidFill>
              </a:rPr>
              <a:t>  in journals requiring</a:t>
            </a:r>
          </a:p>
          <a:p>
            <a:pPr algn="l"/>
            <a:r>
              <a:rPr sz="1300" b="0" i="0">
                <a:solidFill>
                  <a:srgbClr val="2C3E50"/>
                </a:solidFill>
              </a:rPr>
              <a:t>  international standards</a:t>
            </a:r>
          </a:p>
          <a:p>
            <a:pPr algn="l"/>
            <a:r>
              <a:rPr sz="1300" b="0" i="0">
                <a:solidFill>
                  <a:srgbClr val="2C3E50"/>
                </a:solidFill>
              </a:rPr>
              <a:t/>
            </a:r>
          </a:p>
          <a:p>
            <a:pPr algn="l"/>
            <a:r>
              <a:rPr sz="1300" b="0" i="0">
                <a:solidFill>
                  <a:srgbClr val="2C3E50"/>
                </a:solidFill>
              </a:rPr>
              <a:t>→ HIPAA compliance is</a:t>
            </a:r>
          </a:p>
          <a:p>
            <a:pPr algn="l"/>
            <a:r>
              <a:rPr sz="1300" b="0" i="0">
                <a:solidFill>
                  <a:srgbClr val="2C3E50"/>
                </a:solidFill>
              </a:rPr>
              <a:t>  the gold standard for</a:t>
            </a:r>
          </a:p>
          <a:p>
            <a:pPr algn="l"/>
            <a:r>
              <a:rPr sz="1300" b="0" i="0">
                <a:solidFill>
                  <a:srgbClr val="2C3E50"/>
                </a:solidFill>
              </a:rPr>
              <a:t>  serious clinical research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325880"/>
            <a:ext cx="3749039" cy="52120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444752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</a:rPr>
              <a:t>📋  What PHI Does
      It Protect?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286000"/>
            <a:ext cx="3401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▸  Patient 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761488"/>
            <a:ext cx="3401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▸  Date of birth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236976"/>
            <a:ext cx="3401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▸  Medical record number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712464"/>
            <a:ext cx="3401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▸  Admission / discharge 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187952"/>
            <a:ext cx="3401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▸  Diagnosis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663440"/>
            <a:ext cx="3401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▸  Clinical results (GCS, ISS)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5138928"/>
            <a:ext cx="3401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▸  Procedures performed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5614416"/>
            <a:ext cx="3401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▸  Discharge condition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6089904"/>
            <a:ext cx="3401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▸  Any data that can</a:t>
            </a:r>
          </a:p>
          <a:p>
            <a:pPr algn="l"/>
            <a:r>
              <a:rPr sz="1300" b="0" i="0">
                <a:solidFill>
                  <a:srgbClr val="2C3E50"/>
                </a:solidFill>
              </a:rPr>
              <a:t>identify the patient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RESPOND Guatemala · Trauma Registry ·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Option 1: REDCap Integration  ⭐ RECOMMENDED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ED6F1"/>
                </a:solidFill>
              </a:rPr>
              <a:t>The app on Vercel sends data directly to the institutional REDCap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9784080" y="1280160"/>
            <a:ext cx="2103120" cy="53035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02368" y="1307592"/>
            <a:ext cx="20665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⭐ RECOMMENDED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11640312" cy="201168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35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Data Flow with REDCap: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1645920" cy="13716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38528"/>
            <a:ext cx="1645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👤</a:t>
            </a:r>
          </a:p>
          <a:p>
            <a:pPr algn="ctr"/>
            <a:r>
              <a:rPr sz="1200" b="1" i="0">
                <a:solidFill>
                  <a:srgbClr val="FFFFFF"/>
                </a:solidFill>
              </a:rPr>
              <a:t>Nurse / MD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1828800"/>
            <a:ext cx="1737360" cy="137160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1938528"/>
            <a:ext cx="173736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📱</a:t>
            </a:r>
          </a:p>
          <a:p>
            <a:pPr algn="ctr"/>
            <a:r>
              <a:rPr sz="1200" b="1" i="0">
                <a:solidFill>
                  <a:srgbClr val="FFFFFF"/>
                </a:solidFill>
              </a:rPr>
              <a:t>RESPOND App</a:t>
            </a:r>
          </a:p>
          <a:p>
            <a:pPr algn="ctr"/>
            <a:r>
              <a:rPr sz="1200" b="1" i="0">
                <a:solidFill>
                  <a:srgbClr val="FFFFFF"/>
                </a:solidFill>
              </a:rPr>
              <a:t>(Vercel)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828800"/>
            <a:ext cx="1645920" cy="1371600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938528"/>
            <a:ext cx="1645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🔀</a:t>
            </a:r>
          </a:p>
          <a:p>
            <a:pPr algn="ctr"/>
            <a:r>
              <a:rPr sz="1200" b="1" i="0">
                <a:solidFill>
                  <a:srgbClr val="FFFFFF"/>
                </a:solidFill>
              </a:rPr>
              <a:t>Next.js</a:t>
            </a:r>
          </a:p>
          <a:p>
            <a:pPr algn="ctr"/>
            <a:r>
              <a:rPr sz="1200" b="1" i="0">
                <a:solidFill>
                  <a:srgbClr val="FFFFFF"/>
                </a:solidFill>
              </a:rPr>
              <a:t>API Route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1828800" cy="1371600"/>
          </a:xfrm>
          <a:prstGeom prst="rect">
            <a:avLst/>
          </a:prstGeom>
          <a:solidFill>
            <a:srgbClr val="0E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938528"/>
            <a:ext cx="18288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🏛️</a:t>
            </a:r>
          </a:p>
          <a:p>
            <a:pPr algn="ctr"/>
            <a:r>
              <a:rPr sz="1200" b="1" i="0">
                <a:solidFill>
                  <a:srgbClr val="FFFFFF"/>
                </a:solidFill>
              </a:rPr>
              <a:t>REDCap API</a:t>
            </a:r>
          </a:p>
          <a:p>
            <a:pPr algn="ctr"/>
            <a:r>
              <a:rPr sz="1200" b="1" i="0">
                <a:solidFill>
                  <a:srgbClr val="FFFFFF"/>
                </a:solidFill>
              </a:rPr>
              <a:t>(institutional)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66760" y="1828800"/>
            <a:ext cx="1920240" cy="1371600"/>
          </a:xfrm>
          <a:prstGeom prst="rect">
            <a:avLst/>
          </a:prstGeom>
          <a:solidFill>
            <a:srgbClr val="0E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938528"/>
            <a:ext cx="192024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🗄️</a:t>
            </a:r>
          </a:p>
          <a:p>
            <a:pPr algn="ctr"/>
            <a:r>
              <a:rPr sz="1200" b="1" i="0">
                <a:solidFill>
                  <a:srgbClr val="FFFFFF"/>
                </a:solidFill>
              </a:rPr>
              <a:t>REDCap Server</a:t>
            </a:r>
          </a:p>
          <a:p>
            <a:pPr algn="ctr"/>
            <a:r>
              <a:rPr sz="1200" b="1" i="0">
                <a:solidFill>
                  <a:srgbClr val="FFFFFF"/>
                </a:solidFill>
              </a:rPr>
              <a:t>BU / Institution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61320" y="1828800"/>
            <a:ext cx="1417320" cy="13716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61320" y="1938528"/>
            <a:ext cx="14173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🔒</a:t>
            </a:r>
          </a:p>
          <a:p>
            <a:pPr algn="ctr"/>
            <a:r>
              <a:rPr sz="1200" b="1" i="0">
                <a:solidFill>
                  <a:srgbClr val="FFFFFF"/>
                </a:solidFill>
              </a:rPr>
              <a:t>HIPAA</a:t>
            </a:r>
          </a:p>
          <a:p>
            <a:pPr algn="ctr"/>
            <a:r>
              <a:rPr sz="1200" b="1" i="0">
                <a:solidFill>
                  <a:srgbClr val="FFFFFF"/>
                </a:solidFill>
              </a:rPr>
              <a:t>Covered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2359152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6DB4"/>
                </a:solidFill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2359152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6DB4"/>
                </a:solidFill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359152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6DB4"/>
                </a:solidFill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2359152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6DB4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78440" y="2359152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6DB4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566160"/>
            <a:ext cx="5577840" cy="297180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675887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8B4C"/>
                </a:solidFill>
              </a:rPr>
              <a:t>✅  Advantages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2062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B4C"/>
                </a:solidFill>
              </a:rPr>
              <a:t>💰 Cost: $0/year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95728" y="42245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C3E50"/>
                </a:solidFill>
              </a:rPr>
              <a:t>If institution already has REDCap (BU does)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4681727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B4C"/>
                </a:solidFill>
              </a:rPr>
              <a:t>🔒 HIPAA covered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95728" y="470001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C3E50"/>
                </a:solidFill>
              </a:rPr>
              <a:t>Institution is legally responsible, not you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5157216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B4C"/>
                </a:solidFill>
              </a:rPr>
              <a:t>📊 Native exports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95728" y="517550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C3E50"/>
                </a:solidFill>
              </a:rPr>
              <a:t>SPSS, Stata, R, Excel, CSV — built into REDCap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5632704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B4C"/>
                </a:solidFill>
              </a:rPr>
              <a:t>🎓 Research standard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95728" y="565099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C3E50"/>
                </a:solidFill>
              </a:rPr>
              <a:t>6,000+ institutions worldwide use REDCap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10819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B4C"/>
                </a:solidFill>
              </a:rPr>
              <a:t>🚀 No BAA to sign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95728" y="612648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C3E50"/>
                </a:solidFill>
              </a:rPr>
              <a:t>Institution IT department manages 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3566160"/>
            <a:ext cx="5760720" cy="297180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3675887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7E22"/>
                </a:solidFill>
              </a:rPr>
              <a:t>⚠️  Considerations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2062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🏛️ Needs institution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22452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C3E50"/>
                </a:solidFill>
              </a:rPr>
              <a:t>BU or partner institution must open the project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4681727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🗺️ Field mapping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470001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C3E50"/>
                </a:solidFill>
              </a:rPr>
              <a:t>Form fields must map to REDCap variable names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51572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📴 Offline limited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5175504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C3E50"/>
                </a:solidFill>
              </a:rPr>
              <a:t>REDCap API needs connection (solvable with local cache)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563270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📈 Basic dashboard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5650992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C3E50"/>
                </a:solidFill>
              </a:rPr>
              <a:t>REDCap reports are basic — app can pull via API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61081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⏱️ Initial setup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612648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C3E50"/>
                </a:solidFill>
              </a:rPr>
              <a:t>~1 week to coordinate with IT + map variables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RESPOND Guatemala · Trauma Registry ·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REDCap — Technical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ED6F1"/>
                </a:solidFill>
              </a:rPr>
              <a:t>Minimal code changes to connect the existing app to the REDCap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5394960" cy="52120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</a:rPr>
              <a:t>🔧 What Changes in the Code?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057400"/>
            <a:ext cx="1280160" cy="56692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2084831"/>
            <a:ext cx="12435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No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9072" y="2121408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The 16-step form stays exactly as-is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788920"/>
            <a:ext cx="1280160" cy="56692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2816352"/>
            <a:ext cx="12435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No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19072" y="2852928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Dashboard can keep reading from REDCap 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520440"/>
            <a:ext cx="1280160" cy="56692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" y="3547872"/>
            <a:ext cx="12435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9072" y="3584448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Next.js API route: receives form → POST to REDCap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251960"/>
            <a:ext cx="1280160" cy="56692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" y="4279392"/>
            <a:ext cx="12435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19072" y="4315968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Field mapping: app_field_name → redcap_variable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983480"/>
            <a:ext cx="1280160" cy="56692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" y="5010912"/>
            <a:ext cx="12435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19072" y="5047488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Env vars: REDCAP_API_TOKEN + REDCAP_URL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715000"/>
            <a:ext cx="1280160" cy="5669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" y="5742431"/>
            <a:ext cx="12435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Optional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19072" y="5779008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Local cache (IndexedDB) for offline → sync on reconnect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1325880"/>
            <a:ext cx="5943600" cy="521208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444752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</a:rPr>
              <a:t>📋 Setup Process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2057400"/>
            <a:ext cx="457200" cy="5303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07608" y="2084831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2121408"/>
            <a:ext cx="37490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Request REDCap project at BU (IT dept.)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2121408"/>
            <a:ext cx="1417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7F8C8D"/>
                </a:solidFill>
              </a:rPr>
              <a:t>~1–3 days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89320" y="2697480"/>
            <a:ext cx="457200" cy="5303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07608" y="2724911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7104" y="2761487"/>
            <a:ext cx="37490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Define REDCap variables = form fields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2761487"/>
            <a:ext cx="1417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7F8C8D"/>
                </a:solidFill>
              </a:rPr>
              <a:t>~1 day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20" y="3337560"/>
            <a:ext cx="457200" cy="5303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07608" y="3364991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7104" y="3401568"/>
            <a:ext cx="37490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Generate API token in REDCap 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3401568"/>
            <a:ext cx="1417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7F8C8D"/>
                </a:solidFill>
              </a:rPr>
              <a:t>5 min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9320" y="3977639"/>
            <a:ext cx="457200" cy="5303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07608" y="4005071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47104" y="4041648"/>
            <a:ext cx="37490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Write the API route in Next.js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20" y="4041648"/>
            <a:ext cx="1417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7F8C8D"/>
                </a:solidFill>
              </a:rPr>
              <a:t>~4–8 hrs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89320" y="4617720"/>
            <a:ext cx="457200" cy="5303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07608" y="4645152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47104" y="4681727"/>
            <a:ext cx="37490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Map 50–60 form fields to REDCap API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32720" y="4681727"/>
            <a:ext cx="1417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7F8C8D"/>
                </a:solidFill>
              </a:rPr>
              <a:t>~4–8 hrs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89320" y="5257800"/>
            <a:ext cx="457200" cy="5303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07608" y="5285231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47104" y="5321808"/>
            <a:ext cx="37490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End-to-end testing (form → REDCap)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20" y="5321808"/>
            <a:ext cx="1417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7F8C8D"/>
                </a:solidFill>
              </a:rPr>
              <a:t>~1 day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89320" y="5897879"/>
            <a:ext cx="457200" cy="5303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07608" y="5925311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47104" y="5961888"/>
            <a:ext cx="37490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Deploy + train clinical team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32720" y="5961888"/>
            <a:ext cx="1417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7F8C8D"/>
                </a:solidFill>
              </a:rPr>
              <a:t>~1 day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89320" y="5989320"/>
            <a:ext cx="5852160" cy="4572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80760" y="601675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⏱️  Total estimated time: 1–2 weeks  ·  Minimal development cost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RESPOND Guatemala · Trauma Registry ·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Option 2: Supabase Pro + BAA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ED6F1"/>
                </a:solidFill>
              </a:rPr>
              <a:t>Upgrade the existing backend — zero code changes, HIPAA compliant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2286000" cy="91440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62456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$300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90195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per year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1325880"/>
            <a:ext cx="9144000" cy="914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4368" y="1389888"/>
            <a:ext cx="8869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</a:rPr>
              <a:t>The app is already 100% built on Supabase. Simply upgrade to Pro ($25/mo) and sign the BAA.</a:t>
            </a:r>
          </a:p>
          <a:p>
            <a:pPr algn="l"/>
            <a:r>
              <a:rPr sz="1400" b="0" i="0">
                <a:solidFill>
                  <a:srgbClr val="2C3E50"/>
                </a:solidFill>
              </a:rPr>
              <a:t>No code migration required. HIPAA coverage activated in days.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77440"/>
            <a:ext cx="11640312" cy="141732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5059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Architecture (unchanged):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34640"/>
            <a:ext cx="2212848" cy="71323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" y="2871216"/>
            <a:ext cx="21579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👤 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0632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6DB4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15184" y="2834640"/>
            <a:ext cx="2212848" cy="713232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42616" y="2871216"/>
            <a:ext cx="21579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📱 Vercel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1183" y="30632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6DB4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56048" y="2834640"/>
            <a:ext cx="2212848" cy="713232"/>
          </a:xfrm>
          <a:prstGeom prst="rect">
            <a:avLst/>
          </a:prstGeom>
          <a:solidFill>
            <a:srgbClr val="0E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2871216"/>
            <a:ext cx="21579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🔐 Supabase Auth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42048" y="30632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6DB4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834640"/>
            <a:ext cx="2212848" cy="713232"/>
          </a:xfrm>
          <a:prstGeom prst="rect">
            <a:avLst/>
          </a:prstGeom>
          <a:solidFill>
            <a:srgbClr val="0E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4344" y="2871216"/>
            <a:ext cx="21579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🗄️ Supabase PostgreSQL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2912" y="30632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6DB4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37776" y="2834640"/>
            <a:ext cx="2212848" cy="71323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65208" y="2871216"/>
            <a:ext cx="21579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✅ BAA = HIPAA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749039"/>
            <a:ext cx="5577840" cy="278892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8587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8B4C"/>
                </a:solidFill>
              </a:rPr>
              <a:t>✅  Advantages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3891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Zero code changes in the existing 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80974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BAA available on Pro — signed in the Supabase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523036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Supabase runs on AWS us-east-1 — same infra as major hospital systems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565099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Auth, DB, RLS, storage — all HIPAA under one provider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07161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Dashboard, offline PWA and exports continue working as-is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3749039"/>
            <a:ext cx="5760720" cy="278892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385876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7E22"/>
                </a:solidFill>
              </a:rPr>
              <a:t>⚠️  Considerations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38912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▸  Fixed $25/mo cost even at zero patients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95604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▸  Vercel stays free (PHI does not pass through Vercel)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5522976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▸  Must add session timeout + audit log + MFA (~1–2 days)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608990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▸  Administrative docs still needed (risk assessment, privacy policy)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715000"/>
            <a:ext cx="11640312" cy="411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57424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STEPS:   1. Upgrade to Supabase Pro   →   2. Sign BAA in dashboard   →   3. Add session timeout + MFA + audit log   →   4. Document risk assessment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RESPOND Guatemala · Trauma Registry ·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Option 3: Amazon Web Services (AWS)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ED6F1"/>
                </a:solidFill>
              </a:rPr>
              <a:t>Enterprise-grade infrastructure — maximum flexibility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2286000" cy="914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62456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$600–$1,800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90195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per year (variable)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1325880"/>
            <a:ext cx="9144000" cy="91440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4368" y="1389888"/>
            <a:ext cx="8869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</a:rPr>
              <a:t>AWS signs BAA on any paid plan. Architecture: RDS PostgreSQL + Cognito (auth) + Amplify (hosting).</a:t>
            </a:r>
          </a:p>
          <a:p>
            <a:pPr algn="l"/>
            <a:r>
              <a:rPr sz="1400" b="0" i="0">
                <a:solidFill>
                  <a:srgbClr val="2C3E50"/>
                </a:solidFill>
              </a:rPr>
              <a:t>Significant code migration required. Used by Epic, Cerner, and large hospital systems.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77440"/>
            <a:ext cx="11640312" cy="141732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5059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AWS Architecture: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16352"/>
            <a:ext cx="2212848" cy="7772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" y="2852928"/>
            <a:ext cx="21579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👤 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0632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7E22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15184" y="2816352"/>
            <a:ext cx="2212848" cy="7772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42616" y="2852928"/>
            <a:ext cx="21579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📱 AWS Amplify</a:t>
            </a:r>
          </a:p>
          <a:p>
            <a:pPr algn="ctr"/>
            <a:r>
              <a:rPr sz="1200" b="1" i="0">
                <a:solidFill>
                  <a:srgbClr val="FFFFFF"/>
                </a:solidFill>
              </a:rPr>
              <a:t>(hosting)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1183" y="30632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7E22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56048" y="2816352"/>
            <a:ext cx="2212848" cy="777240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2852928"/>
            <a:ext cx="21579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🔐 Cognito</a:t>
            </a:r>
          </a:p>
          <a:p>
            <a:pPr algn="ctr"/>
            <a:r>
              <a:rPr sz="1200" b="1" i="0">
                <a:solidFill>
                  <a:srgbClr val="FFFFFF"/>
                </a:solidFill>
              </a:rPr>
              <a:t>(auth)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42048" y="30632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7E22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816352"/>
            <a:ext cx="2212848" cy="777240"/>
          </a:xfrm>
          <a:prstGeom prst="rect">
            <a:avLst/>
          </a:prstGeom>
          <a:solidFill>
            <a:srgbClr val="8B3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4344" y="2852928"/>
            <a:ext cx="21579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🗄️ RDS PostgreSQL</a:t>
            </a:r>
          </a:p>
          <a:p>
            <a:pPr algn="ctr"/>
            <a:r>
              <a:rPr sz="1200" b="1" i="0">
                <a:solidFill>
                  <a:srgbClr val="FFFFFF"/>
                </a:solidFill>
              </a:rPr>
              <a:t>+ KMS encrypt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2912" y="30632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7E22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37776" y="2816352"/>
            <a:ext cx="2212848" cy="7772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65208" y="2852928"/>
            <a:ext cx="21579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✅ BAA = HIPAA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749039"/>
            <a:ext cx="5577840" cy="278892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8587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8B4C"/>
                </a:solidFill>
              </a:rPr>
              <a:t>✅  Advantages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3891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Gold standard for healthcare IT in the United States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80974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BAA available — AWS is HIPAA-eligible across all key services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523036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Maximum infrastructure control and visibility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565099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Native audit logging via CloudTrail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07161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Scales to millions of patients without re-architecting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3749039"/>
            <a:ext cx="5760720" cy="278892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385876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</a:rPr>
              <a:t>✗  Disadvantages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38912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✗  Full code migration: auth, DB, API — weeks of 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80974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✗  High operational complexity: IAM, VPC, security groups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523036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✗  Requires DevOps expertise to maintain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565099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✗  Variable cost — can increase with usage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607161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✗  Overkill for a single-hospital pilot stage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715000"/>
            <a:ext cx="11640312" cy="411480"/>
          </a:xfrm>
          <a:prstGeom prst="rect">
            <a:avLst/>
          </a:prstGeom>
          <a:solidFill>
            <a:srgbClr val="CC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57424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Cost breakdown: RDS db.t3.micro ~$15/mo · Cognito &lt;1K users free · Amplify ~$1–5/mo · Extras (backups, KMS, CloudWatch) ~$5–10/mo → Total ~$25–50/mo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RESPOND Guatemala · Trauma Registry ·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Option 4: Google Cloud Platform / Firebase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ED6F1"/>
                </a:solidFill>
              </a:rPr>
              <a:t>Low cost at small scale — BAA available on Blaze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2286000" cy="914400"/>
          </a:xfrm>
          <a:prstGeom prst="rect">
            <a:avLst/>
          </a:prstGeom>
          <a:solidFill>
            <a:srgbClr val="0E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62456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$0–$360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90195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per year (pay-as-you-go)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1325880"/>
            <a:ext cx="9144000" cy="914400"/>
          </a:xfrm>
          <a:prstGeom prst="rect">
            <a:avLst/>
          </a:prstGeom>
          <a:solidFill>
            <a:srgbClr val="D1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4368" y="1389888"/>
            <a:ext cx="8869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</a:rPr>
              <a:t>Google signs BAA under GCP. Firebase Auth + Firestore (or Cloud SQL) are HIPAA-eligible.</a:t>
            </a:r>
          </a:p>
          <a:p>
            <a:pPr algn="l"/>
            <a:r>
              <a:rPr sz="1400" b="0" i="0">
                <a:solidFill>
                  <a:srgbClr val="2C3E50"/>
                </a:solidFill>
              </a:rPr>
              <a:t>Near-zero cost at low volumes. Significant code migration required.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77440"/>
            <a:ext cx="11640312" cy="141732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5059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GCP Architecture: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16352"/>
            <a:ext cx="2212848" cy="7772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" y="2852928"/>
            <a:ext cx="21579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👤 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0632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E868A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15184" y="2816352"/>
            <a:ext cx="2212848" cy="777240"/>
          </a:xfrm>
          <a:prstGeom prst="rect">
            <a:avLst/>
          </a:prstGeom>
          <a:solidFill>
            <a:srgbClr val="0E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42616" y="2852928"/>
            <a:ext cx="21579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📱 Cloud Run</a:t>
            </a:r>
          </a:p>
          <a:p>
            <a:pPr algn="ctr"/>
            <a:r>
              <a:rPr sz="1200" b="1" i="0">
                <a:solidFill>
                  <a:srgbClr val="FFFFFF"/>
                </a:solidFill>
              </a:rPr>
              <a:t>(hosting)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1183" y="30632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E868A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56048" y="2816352"/>
            <a:ext cx="2212848" cy="777240"/>
          </a:xfrm>
          <a:prstGeom prst="rect">
            <a:avLst/>
          </a:prstGeom>
          <a:solidFill>
            <a:srgbClr val="0A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2852928"/>
            <a:ext cx="21579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🔐 Firebase Auth</a:t>
            </a:r>
          </a:p>
          <a:p>
            <a:pPr algn="ctr"/>
            <a:r>
              <a:rPr sz="1200" b="1" i="0">
                <a:solidFill>
                  <a:srgbClr val="FFFFFF"/>
                </a:solidFill>
              </a:rPr>
              <a:t>(Google)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42048" y="30632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E868A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816352"/>
            <a:ext cx="2212848" cy="777240"/>
          </a:xfrm>
          <a:prstGeom prst="rect">
            <a:avLst/>
          </a:prstGeom>
          <a:solidFill>
            <a:srgbClr val="06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4344" y="2852928"/>
            <a:ext cx="21579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🗄️ Firestore or</a:t>
            </a:r>
          </a:p>
          <a:p>
            <a:pPr algn="ctr"/>
            <a:r>
              <a:rPr sz="1200" b="1" i="0">
                <a:solidFill>
                  <a:srgbClr val="FFFFFF"/>
                </a:solidFill>
              </a:rPr>
              <a:t>Cloud 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2912" y="30632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E868A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37776" y="2816352"/>
            <a:ext cx="2212848" cy="7772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65208" y="2852928"/>
            <a:ext cx="21579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✅ BAA = HIPAA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749039"/>
            <a:ext cx="5577840" cy="278892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8587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8B4C"/>
                </a:solidFill>
              </a:rPr>
              <a:t>✅  Advantages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3891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Near-zero cost at low data volumes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80974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Google signs BAA on Blaze plan (free or pay-as-you-go)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523036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Firebase Auth is robust with MFA built-in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565099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Cloud SQL = PostgreSQL (easier to migrate than Firestore)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07161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Google Workspace / Drive integration for reports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3749039"/>
            <a:ext cx="5760720" cy="278892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385876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</a:rPr>
              <a:t>✗  Disadvantages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38912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✗  Full code migration from Supabase to Firebase/GCP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80974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✗  Firestore is NoSQL — very different from current schema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523036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✗  Cloud SQL needs more configuration than Supabase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565099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✗  GCP learning curve vs. simplicity of Supabase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607161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✗  Vendor lock-in to Google ecosystem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715000"/>
            <a:ext cx="11640312" cy="411480"/>
          </a:xfrm>
          <a:prstGeom prst="rect">
            <a:avLst/>
          </a:prstGeom>
          <a:solidFill>
            <a:srgbClr val="0E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57424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Cost: Firestore &lt;50K reads/day free · Firebase Auth free · Cloud Run $0–5/mo at low volume → Total ~$0–30/mo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RESPOND Guatemala · Trauma Registry ·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Cost &amp; Feature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ED6F1"/>
                </a:solidFill>
              </a:rPr>
              <a:t>Annual analysis for a single-hospital pilot (~500–1,000 patients/year)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788920" cy="102412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98448"/>
            <a:ext cx="2788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REDCap</a:t>
            </a:r>
          </a:p>
          <a:p>
            <a:pPr algn="ctr"/>
            <a:r>
              <a:rPr sz="1300" b="1" i="0">
                <a:solidFill>
                  <a:srgbClr val="FFFFFF"/>
                </a:solidFill>
              </a:rPr>
              <a:t>(Institutional)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673352"/>
            <a:ext cx="2788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$0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17627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DDDD"/>
                </a:solidFill>
              </a:rPr>
              <a:t>/year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55263" y="1280160"/>
            <a:ext cx="2788920" cy="102412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55263" y="1298448"/>
            <a:ext cx="2788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Supabase Pro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55263" y="1673352"/>
            <a:ext cx="2788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$300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5263" y="217627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DDDD"/>
                </a:solidFill>
              </a:rPr>
              <a:t>/year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7" y="1280160"/>
            <a:ext cx="2788920" cy="1024128"/>
          </a:xfrm>
          <a:prstGeom prst="rect">
            <a:avLst/>
          </a:prstGeom>
          <a:solidFill>
            <a:srgbClr val="0E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7" y="1298448"/>
            <a:ext cx="2788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Google Cloud</a:t>
            </a:r>
          </a:p>
          <a:p>
            <a:pPr algn="ctr"/>
            <a:r>
              <a:rPr sz="1300" b="1" i="0">
                <a:solidFill>
                  <a:srgbClr val="FFFFFF"/>
                </a:solidFill>
              </a:rPr>
              <a:t>(Firebase)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7" y="1673352"/>
            <a:ext cx="2788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$0–360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7" y="217627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DDDD"/>
                </a:solidFill>
              </a:rPr>
              <a:t>/year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17152" y="1280160"/>
            <a:ext cx="2788920" cy="10241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17152" y="1298448"/>
            <a:ext cx="2788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AWS</a:t>
            </a:r>
          </a:p>
          <a:p>
            <a:pPr algn="ctr"/>
            <a:r>
              <a:rPr sz="1300" b="1" i="0">
                <a:solidFill>
                  <a:srgbClr val="FFFFFF"/>
                </a:solidFill>
              </a:rPr>
              <a:t>(RDS + Cognito)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1673352"/>
            <a:ext cx="2788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$300–600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2" y="217627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DDDD"/>
                </a:solidFill>
              </a:rPr>
              <a:t>/year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487168"/>
            <a:ext cx="11640312" cy="457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" y="2514600"/>
            <a:ext cx="2852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9272" y="251460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REDCap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05272" y="251460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Supabase Pro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1272" y="251460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Google Cloud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77272" y="25146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AWS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980944"/>
            <a:ext cx="11640312" cy="36576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" y="2999232"/>
            <a:ext cx="2852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HIPAA Compliance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19272" y="299923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✅ Institutional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05272" y="299923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✅ BAA on Pro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91272" y="299923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✅ BAA Blaze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77272" y="299923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✅ BAA any paid plan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355848"/>
            <a:ext cx="1164031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9184" y="3374136"/>
            <a:ext cx="2852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Annual cost estimate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19272" y="337413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💚 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05272" y="337413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🔵 $300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91272" y="337413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🟢 $0–$360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77272" y="337413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🟡 $300–$600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730752"/>
            <a:ext cx="11640312" cy="36576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9184" y="3749039"/>
            <a:ext cx="2852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Code changes required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19272" y="3749039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🟡 Medium (API)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05272" y="3749039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✅ Minimal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91272" y="3749039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🔴 High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77272" y="3749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🔴 High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105656"/>
            <a:ext cx="1164031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9184" y="4123944"/>
            <a:ext cx="2852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Time to implement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9272" y="412394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1–2 weeks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05272" y="412394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2–3 days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91272" y="412394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4–8 weeks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77272" y="41239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4–8 weeks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4480559"/>
            <a:ext cx="11640312" cy="36576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9184" y="4498848"/>
            <a:ext cx="2852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Offline / PWA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19272" y="449884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🟡 With cache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05272" y="449884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✅ Full support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91272" y="449884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🟡 With cache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77272" y="44988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🟡 With cache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4855464"/>
            <a:ext cx="1164031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9184" y="4873752"/>
            <a:ext cx="2852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Real-time dashboard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9272" y="487375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🟡 API pull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05272" y="487375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✅ Works now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91272" y="487375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🟡 Needs dev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77272" y="48737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🟡 Needs dev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5230368"/>
            <a:ext cx="11640312" cy="36576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9184" y="5248656"/>
            <a:ext cx="2852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Research data exports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19272" y="524865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✅ SPSS/SAS/R/CSV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05272" y="524865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✅ Excel/CSV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91272" y="524865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🟡 CSV/JSON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77272" y="524865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🟡 CSV/JSON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5605271"/>
            <a:ext cx="1164031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9184" y="5623559"/>
            <a:ext cx="2852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Known by researchers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19272" y="5623559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✅ Gold standard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05272" y="5623559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🟡 Unknown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891272" y="5623559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🟡 Unknown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77272" y="562355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🟡 Unknown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5980175"/>
            <a:ext cx="11640312" cy="36576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29184" y="5998464"/>
            <a:ext cx="2852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Scalability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319272" y="599846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✅ High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605272" y="599846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✅ High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91272" y="599846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✅ High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177272" y="599846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✅ Very high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RESPOND Guatemala · Trauma Registry ·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ED6F1"/>
                </a:solidFill>
              </a:rPr>
              <a:t>Two-phase strategy based on project goals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5577840" cy="521208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5577840" cy="5943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62456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⭐  Phase 1 — Research 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057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3A6B"/>
                </a:solidFill>
              </a:rPr>
              <a:t>REDCap + RESPOND Guatemala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52374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8B4C"/>
                </a:solidFill>
              </a:rPr>
              <a:t>$0/year if BU has REDCap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01752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HIPAA covered by institution — zero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511296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Data on BU servers — full legal protection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00507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REDCap is the standard in clinical publications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49884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Direct export to SPSS/Stata/R for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992624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BU IRB can approve directly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48640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Minimal monthly operating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980176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1–2 weeks technical integration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325880"/>
            <a:ext cx="5760720" cy="52120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325880"/>
            <a:ext cx="5760720" cy="59436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362456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🚀  Phase 2 — Regional 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057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A6B"/>
                </a:solidFill>
              </a:rPr>
              <a:t>Supabase Pro (or AWS with funding)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52374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DB4"/>
                </a:solidFill>
              </a:rPr>
              <a:t>$300/year (Supabase) · $300–600/year (AWS)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017520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When scaling to multiple hospitals (&gt;3)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511296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If advanced real-time dashboard is needed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005072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Once the project secures formal funding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498848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App is already built — just upgrade + sign BAA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992624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Independent from any academic institution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5486400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Full ownership of patient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5980176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2–3 days to implement from today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RESPOND Guatemala · Trauma Registry · 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ED6F1"/>
                </a:solidFill>
              </a:rPr>
              <a:t>Path to launching the pilot with full HIPAA compliance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30352" cy="914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08760"/>
            <a:ext cx="530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" y="1371600"/>
            <a:ext cx="10972800" cy="9144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26464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</a:rPr>
              <a:t>Confirm REDCap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65376"/>
            <a:ext cx="10744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C3E50"/>
                </a:solidFill>
              </a:rPr>
              <a:t>Ask BU IT if a REDCap project is available for Guatemala.</a:t>
            </a:r>
          </a:p>
          <a:p>
            <a:pPr algn="l"/>
            <a:r>
              <a:rPr sz="1250" b="0" i="0">
                <a:solidFill>
                  <a:srgbClr val="2C3E50"/>
                </a:solidFill>
              </a:rPr>
              <a:t>Alternative: submit a new project request (form + approval ~1–3 days).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95728"/>
            <a:ext cx="530352" cy="91440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532888"/>
            <a:ext cx="530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" y="2395728"/>
            <a:ext cx="109728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450592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6DB4"/>
                </a:solidFill>
              </a:rPr>
              <a:t>IRB / Ethics Committee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889504"/>
            <a:ext cx="10744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C3E50"/>
                </a:solidFill>
              </a:rPr>
              <a:t>Submit research protocol to BU IRB.</a:t>
            </a:r>
          </a:p>
          <a:p>
            <a:pPr algn="l"/>
            <a:r>
              <a:rPr sz="1250" b="0" i="0">
                <a:solidFill>
                  <a:srgbClr val="2C3E50"/>
                </a:solidFill>
              </a:rPr>
              <a:t>REDCap integration facilitates approval — it is BU's standard platform.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419856"/>
            <a:ext cx="530352" cy="914400"/>
          </a:xfrm>
          <a:prstGeom prst="rect">
            <a:avLst/>
          </a:prstGeom>
          <a:solidFill>
            <a:srgbClr val="0E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3557016"/>
            <a:ext cx="530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" y="3419856"/>
            <a:ext cx="10972800" cy="9144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474720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868A"/>
                </a:solidFill>
              </a:rPr>
              <a:t>REDCap Technical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913632"/>
            <a:ext cx="10744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C3E50"/>
                </a:solidFill>
              </a:rPr>
              <a:t>Map the 16-step form fields to REDCap variables.</a:t>
            </a:r>
          </a:p>
          <a:p>
            <a:pPr algn="l"/>
            <a:r>
              <a:rPr sz="1250" b="0" i="0">
                <a:solidFill>
                  <a:srgbClr val="2C3E50"/>
                </a:solidFill>
              </a:rPr>
              <a:t>Write the Next.js API route to send data (~4–8 hours of development).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443984"/>
            <a:ext cx="530352" cy="9144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581144"/>
            <a:ext cx="530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" y="4443984"/>
            <a:ext cx="109728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498848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8B4C"/>
                </a:solidFill>
              </a:rPr>
              <a:t>Add HIPAA Technical Controls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937760"/>
            <a:ext cx="10744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C3E50"/>
                </a:solidFill>
              </a:rPr>
              <a:t>Session timeout (15 min) · Audit log · MFA for all users.</a:t>
            </a:r>
          </a:p>
          <a:p>
            <a:pPr algn="l"/>
            <a:r>
              <a:rPr sz="1250" b="0" i="0">
                <a:solidFill>
                  <a:srgbClr val="2C3E50"/>
                </a:solidFill>
              </a:rPr>
              <a:t>Estimated: 1–2 days of development, independent of backend choice.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468112"/>
            <a:ext cx="530352" cy="914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5605272"/>
            <a:ext cx="530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0392" y="5468112"/>
            <a:ext cx="10972800" cy="9144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522976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7E22"/>
                </a:solidFill>
              </a:rPr>
              <a:t>Pilot Hospital + Training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961888"/>
            <a:ext cx="10744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C3E50"/>
                </a:solidFill>
              </a:rPr>
              <a:t>Add 1 hospital to the dropdown · Create 3–5 user accounts.</a:t>
            </a:r>
          </a:p>
          <a:p>
            <a:pPr algn="l"/>
            <a:r>
              <a:rPr sz="1250" b="0" i="0">
                <a:solidFill>
                  <a:srgbClr val="2C3E50"/>
                </a:solidFill>
              </a:rPr>
              <a:t>Clinical team training: ~2 hours.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RESPOND Guatemala · Trauma Registry · 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40680"/>
            <a:ext cx="12188952" cy="73152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RESPOND Guatemala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AED6F1"/>
                </a:solidFill>
              </a:rPr>
              <a:t>Digital Trauma Registry · Ready for Pilot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40280"/>
            <a:ext cx="10972800" cy="1920240"/>
          </a:xfrm>
          <a:prstGeom prst="rect">
            <a:avLst/>
          </a:prstGeom>
          <a:solidFill>
            <a:srgbClr val="1E4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59152"/>
            <a:ext cx="43891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377440"/>
            <a:ext cx="10058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Complete MVP live in production — trauma-registry.vercel.app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43891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715768"/>
            <a:ext cx="10058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Core security in place: HTTPS, JWT, RLS, AES-256 encryption, SOC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35808"/>
            <a:ext cx="43891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054096"/>
            <a:ext cx="10058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HIPAA options identified: REDCap ($0) · Supabase Pro ($300/yr) · AWS · GCP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74136"/>
            <a:ext cx="43891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392424"/>
            <a:ext cx="10058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Recommendation: institutional REDCap for pilot → zero cost, maximum credibility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12464"/>
            <a:ext cx="43891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730752"/>
            <a:ext cx="10058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Time to first registered patient: 2–4 weeks with IRB approval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343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39C12"/>
                </a:solidFill>
              </a:rPr>
              <a:t>Questions?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1091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5D8AC4"/>
                </a:solidFill>
              </a:rPr>
              <a:t>trauma-registry.vercel.app/en/patients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577840"/>
            <a:ext cx="12188952" cy="1280160"/>
          </a:xfrm>
          <a:prstGeom prst="rect">
            <a:avLst/>
          </a:prstGeom>
          <a:solidFill>
            <a:srgbClr val="12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035040"/>
            <a:ext cx="11274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F8C8D"/>
                </a:solidFill>
              </a:rPr>
              <a:t>RESPOND Guatemala  ·  Trauma Registry  ·  Confidential  · 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