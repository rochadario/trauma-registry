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2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257800"/>
            <a:ext cx="12188952" cy="73152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RESPOND Guatemala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109728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0" i="0">
                <a:solidFill>
                  <a:srgbClr val="AED6F1"/>
                </a:solidFill>
              </a:rPr>
              <a:t>Registro Digital de Trauma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5D8AC4"/>
                </a:solidFill>
              </a:rPr>
              <a:t>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1">
                <a:solidFill>
                  <a:srgbClr val="AED6F1"/>
                </a:solidFill>
              </a:rPr>
              <a:t>Arquitectura de la plataforma  ·  Cumplimiento HIPAA  ·  Opciones de escalamiento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08960"/>
            <a:ext cx="2560320" cy="1097280"/>
          </a:xfrm>
          <a:prstGeom prst="rect">
            <a:avLst/>
          </a:prstGeom>
          <a:solidFill>
            <a:srgbClr val="1E4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2560320" cy="6217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400" b="1" i="0">
                <a:solidFill>
                  <a:srgbClr val="F39C12"/>
                </a:solidFill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49039"/>
            <a:ext cx="25603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AED6F1"/>
                </a:solidFill>
              </a:rPr>
              <a:t>pasos del formulario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3108960"/>
            <a:ext cx="2560320" cy="1097280"/>
          </a:xfrm>
          <a:prstGeom prst="rect">
            <a:avLst/>
          </a:prstGeom>
          <a:solidFill>
            <a:srgbClr val="1E4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3154680"/>
            <a:ext cx="2560320" cy="6217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400" b="1" i="0">
                <a:solidFill>
                  <a:srgbClr val="F39C12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749039"/>
            <a:ext cx="25603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AED6F1"/>
                </a:solidFill>
              </a:rPr>
              <a:t>idiomas ES/EN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108960"/>
            <a:ext cx="2560320" cy="1097280"/>
          </a:xfrm>
          <a:prstGeom prst="rect">
            <a:avLst/>
          </a:prstGeom>
          <a:solidFill>
            <a:srgbClr val="1E4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54680"/>
            <a:ext cx="2560320" cy="6217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400" b="1" i="0">
                <a:solidFill>
                  <a:srgbClr val="F39C12"/>
                </a:solidFill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749039"/>
            <a:ext cx="25603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AED6F1"/>
                </a:solidFill>
              </a:rPr>
              <a:t>costo actual/mes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3108960"/>
            <a:ext cx="2560320" cy="1097280"/>
          </a:xfrm>
          <a:prstGeom prst="rect">
            <a:avLst/>
          </a:prstGeom>
          <a:solidFill>
            <a:srgbClr val="1E4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3154680"/>
            <a:ext cx="2560320" cy="6217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400" b="1" i="0">
                <a:solidFill>
                  <a:srgbClr val="F39C12"/>
                </a:solidFill>
              </a:rPr>
              <a:t>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749039"/>
            <a:ext cx="25603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AED6F1"/>
                </a:solidFill>
              </a:rPr>
              <a:t>pacientes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40680"/>
            <a:ext cx="7315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5D8AC4"/>
                </a:solidFill>
              </a:rPr>
              <a:t>trauma-registry.vercel.app/en/patients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544068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300" b="0" i="0">
                <a:solidFill>
                  <a:srgbClr val="7F8C8D"/>
                </a:solidFill>
              </a:rPr>
              <a:t>Marzo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9728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¿Qué es RESPOND Guatemala?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AED6F1"/>
                </a:solidFill>
              </a:rPr>
              <a:t>Plataforma web para registro prospectivo de trauma en hospitales de bajos recursos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303520" cy="50292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1B3A6B"/>
                </a:solidFill>
              </a:rPr>
              <a:t>El 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920240"/>
            <a:ext cx="50292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▸  Los hospitales de Guatemala no tienen sistemas digitales de registro de trauma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670048"/>
            <a:ext cx="50292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▸  Los datos en papel no permiten análisis, benchmarking ni mejora de calidad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19856"/>
            <a:ext cx="50292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▸  Sin datos no hay evidencia para pedir recursos o mejorar protocolos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169664"/>
            <a:ext cx="50292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▸  Las soluciones comerciales cuestan $50,000–$200,000/año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919472"/>
            <a:ext cx="50292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▸  Los sistemas existentes no funcionan sin internet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1280160"/>
            <a:ext cx="6035040" cy="502920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371600"/>
            <a:ext cx="5669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1E8B4C"/>
                </a:solidFill>
              </a:rPr>
              <a:t>Nuestra solución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1920240"/>
            <a:ext cx="576072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✓  App web gratuita, accesible desde cualquier dispositivo con navegador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2542032"/>
            <a:ext cx="576072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✓  Funciona offline (PWA) — sincroniza cuando regresa el internet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3163824"/>
            <a:ext cx="576072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✓  Formulario de 16 pasos optimizado para flujo clínico real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3785616"/>
            <a:ext cx="576072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✓  Cálculo automático de GCS e ISS — sin tablas ni cálculos manuales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4407408"/>
            <a:ext cx="576072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✓  Dashboard en tiempo real para el equipo de trauma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5029200"/>
            <a:ext cx="576072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✓  Bilingüe español/inglés — lista para uso inmediato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5650992"/>
            <a:ext cx="576072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✓  Costo de operación actual: $0/mes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RESPOND Guatemala · Registro de Trauma · Confidencial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9728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¿Qué contiene la plataforma?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AED6F1"/>
                </a:solidFill>
              </a:rPr>
              <a:t>Módulos y funcionalidades del MVP actual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1810512" cy="1554480"/>
          </a:xfrm>
          <a:prstGeom prst="rect">
            <a:avLst/>
          </a:prstGeom>
          <a:solidFill>
            <a:srgbClr val="EBF5FB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99032"/>
            <a:ext cx="18105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0" i="0">
                <a:solidFill>
                  <a:srgbClr val="2C3E50"/>
                </a:solidFill>
              </a:rPr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03120"/>
            <a:ext cx="181051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3A6B"/>
                </a:solidFill>
              </a:rPr>
              <a:t>Formulario</a:t>
            </a:r>
          </a:p>
          <a:p>
            <a:pPr algn="ctr"/>
            <a:r>
              <a:rPr sz="1100" b="1" i="0">
                <a:solidFill>
                  <a:srgbClr val="1B3A6B"/>
                </a:solidFill>
              </a:rPr>
              <a:t>16 pasos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79" y="1325880"/>
            <a:ext cx="1810512" cy="1554480"/>
          </a:xfrm>
          <a:prstGeom prst="rect">
            <a:avLst/>
          </a:prstGeom>
          <a:solidFill>
            <a:srgbClr val="D5F5E3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79" y="1399032"/>
            <a:ext cx="18105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0" i="0">
                <a:solidFill>
                  <a:srgbClr val="2C3E50"/>
                </a:solidFill>
              </a:rPr>
              <a:t>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79" y="2103120"/>
            <a:ext cx="181051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3A6B"/>
                </a:solidFill>
              </a:rPr>
              <a:t>Cálculo GCS</a:t>
            </a:r>
          </a:p>
          <a:p>
            <a:pPr algn="ctr"/>
            <a:r>
              <a:rPr sz="1100" b="1" i="0">
                <a:solidFill>
                  <a:srgbClr val="1B3A6B"/>
                </a:solidFill>
              </a:rPr>
              <a:t>automático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325880"/>
            <a:ext cx="1810512" cy="1554480"/>
          </a:xfrm>
          <a:prstGeom prst="rect">
            <a:avLst/>
          </a:prstGeom>
          <a:solidFill>
            <a:srgbClr val="EBF5FB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399032"/>
            <a:ext cx="18105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0" i="0">
                <a:solidFill>
                  <a:srgbClr val="2C3E50"/>
                </a:solidFill>
              </a:rP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103120"/>
            <a:ext cx="181051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3A6B"/>
                </a:solidFill>
              </a:rPr>
              <a:t>Score ISS</a:t>
            </a:r>
          </a:p>
          <a:p>
            <a:pPr algn="ctr"/>
            <a:r>
              <a:rPr sz="1100" b="1" i="0">
                <a:solidFill>
                  <a:srgbClr val="1B3A6B"/>
                </a:solidFill>
              </a:rPr>
              <a:t>automático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199" y="1325880"/>
            <a:ext cx="1810512" cy="1554480"/>
          </a:xfrm>
          <a:prstGeom prst="rect">
            <a:avLst/>
          </a:prstGeom>
          <a:solidFill>
            <a:srgbClr val="D5F5E3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199" y="1399032"/>
            <a:ext cx="18105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0" i="0">
                <a:solidFill>
                  <a:srgbClr val="2C3E50"/>
                </a:solidFill>
              </a:rPr>
              <a:t>🗺️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199" y="2103120"/>
            <a:ext cx="181051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3A6B"/>
                </a:solidFill>
              </a:rPr>
              <a:t>Mapa corporal</a:t>
            </a:r>
          </a:p>
          <a:p>
            <a:pPr algn="ctr"/>
            <a:r>
              <a:rPr sz="1100" b="1" i="0">
                <a:solidFill>
                  <a:srgbClr val="1B3A6B"/>
                </a:solidFill>
              </a:rPr>
              <a:t>interactivo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325880"/>
            <a:ext cx="1810512" cy="1554480"/>
          </a:xfrm>
          <a:prstGeom prst="rect">
            <a:avLst/>
          </a:prstGeom>
          <a:solidFill>
            <a:srgbClr val="EBF5FB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399032"/>
            <a:ext cx="18105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0" i="0">
                <a:solidFill>
                  <a:srgbClr val="2C3E50"/>
                </a:solidFill>
              </a:rPr>
              <a:t>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103120"/>
            <a:ext cx="181051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3A6B"/>
                </a:solidFill>
              </a:rPr>
              <a:t>Dashboard</a:t>
            </a:r>
          </a:p>
          <a:p>
            <a:pPr algn="ctr"/>
            <a:r>
              <a:rPr sz="1100" b="1" i="0">
                <a:solidFill>
                  <a:srgbClr val="1B3A6B"/>
                </a:solidFill>
              </a:rPr>
              <a:t>en tiempo real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04120" y="1325880"/>
            <a:ext cx="1810512" cy="1554480"/>
          </a:xfrm>
          <a:prstGeom prst="rect">
            <a:avLst/>
          </a:prstGeom>
          <a:solidFill>
            <a:srgbClr val="D5F5E3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04120" y="1399032"/>
            <a:ext cx="18105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0" i="0">
                <a:solidFill>
                  <a:srgbClr val="2C3E50"/>
                </a:solidFill>
              </a:rPr>
              <a:t>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04120" y="2103120"/>
            <a:ext cx="181051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3A6B"/>
                </a:solidFill>
              </a:rPr>
              <a:t>Exportar</a:t>
            </a:r>
          </a:p>
          <a:p>
            <a:pPr algn="ctr"/>
            <a:r>
              <a:rPr sz="1100" b="1" i="0">
                <a:solidFill>
                  <a:srgbClr val="1B3A6B"/>
                </a:solidFill>
              </a:rPr>
              <a:t>a Excel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063239"/>
            <a:ext cx="1810512" cy="1554480"/>
          </a:xfrm>
          <a:prstGeom prst="rect">
            <a:avLst/>
          </a:prstGeom>
          <a:solidFill>
            <a:srgbClr val="EBF5FB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3136391"/>
            <a:ext cx="18105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0" i="0">
                <a:solidFill>
                  <a:srgbClr val="2C3E50"/>
                </a:solidFill>
              </a:rPr>
              <a:t>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840479"/>
            <a:ext cx="181051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3A6B"/>
                </a:solidFill>
              </a:rPr>
              <a:t>Modo offline</a:t>
            </a:r>
          </a:p>
          <a:p>
            <a:pPr algn="ctr"/>
            <a:r>
              <a:rPr sz="1100" b="1" i="0">
                <a:solidFill>
                  <a:srgbClr val="1B3A6B"/>
                </a:solidFill>
              </a:rPr>
              <a:t>(PWA)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40279" y="3063239"/>
            <a:ext cx="1810512" cy="1554480"/>
          </a:xfrm>
          <a:prstGeom prst="rect">
            <a:avLst/>
          </a:prstGeom>
          <a:solidFill>
            <a:srgbClr val="D5F5E3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40279" y="3136391"/>
            <a:ext cx="18105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0" i="0">
                <a:solidFill>
                  <a:srgbClr val="2C3E50"/>
                </a:solidFill>
              </a:rPr>
              <a:t>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79" y="3840479"/>
            <a:ext cx="181051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3A6B"/>
                </a:solidFill>
              </a:rPr>
              <a:t>Bilingüe</a:t>
            </a:r>
          </a:p>
          <a:p>
            <a:pPr algn="ctr"/>
            <a:r>
              <a:rPr sz="1100" b="1" i="0">
                <a:solidFill>
                  <a:srgbClr val="1B3A6B"/>
                </a:solidFill>
              </a:rPr>
              <a:t>ES / 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3063239"/>
            <a:ext cx="1810512" cy="1554480"/>
          </a:xfrm>
          <a:prstGeom prst="rect">
            <a:avLst/>
          </a:prstGeom>
          <a:solidFill>
            <a:srgbClr val="EBF5FB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0" y="3136391"/>
            <a:ext cx="18105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0" i="0">
                <a:solidFill>
                  <a:srgbClr val="2C3E50"/>
                </a:solidFill>
              </a:rPr>
              <a:t>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3840479"/>
            <a:ext cx="181051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3A6B"/>
                </a:solidFill>
              </a:rPr>
              <a:t>Auth con</a:t>
            </a:r>
          </a:p>
          <a:p>
            <a:pPr algn="ctr"/>
            <a:r>
              <a:rPr sz="1100" b="1" i="0">
                <a:solidFill>
                  <a:srgbClr val="1B3A6B"/>
                </a:solidFill>
              </a:rPr>
              <a:t>roles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199" y="3063239"/>
            <a:ext cx="1810512" cy="1554480"/>
          </a:xfrm>
          <a:prstGeom prst="rect">
            <a:avLst/>
          </a:prstGeom>
          <a:solidFill>
            <a:srgbClr val="D5F5E3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199" y="3136391"/>
            <a:ext cx="18105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0" i="0">
                <a:solidFill>
                  <a:srgbClr val="2C3E50"/>
                </a:solidFill>
              </a:rPr>
              <a:t>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199" y="3840479"/>
            <a:ext cx="181051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3A6B"/>
                </a:solidFill>
              </a:rPr>
              <a:t>Multi-hospital</a:t>
            </a:r>
          </a:p>
          <a:p>
            <a:pPr algn="ctr"/>
            <a:r>
              <a:rPr sz="1100" b="1" i="0">
                <a:solidFill>
                  <a:srgbClr val="1B3A6B"/>
                </a:solidFill>
              </a:rPr>
              <a:t>listo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3063239"/>
            <a:ext cx="1810512" cy="1554480"/>
          </a:xfrm>
          <a:prstGeom prst="rect">
            <a:avLst/>
          </a:prstGeom>
          <a:solidFill>
            <a:srgbClr val="EBF5FB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3136391"/>
            <a:ext cx="18105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0" i="0">
                <a:solidFill>
                  <a:srgbClr val="2C3E50"/>
                </a:solidFill>
              </a:rPr>
              <a:t>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3840479"/>
            <a:ext cx="181051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3A6B"/>
                </a:solidFill>
              </a:rPr>
              <a:t>Mobile</a:t>
            </a:r>
          </a:p>
          <a:p>
            <a:pPr algn="ctr"/>
            <a:r>
              <a:rPr sz="1100" b="1" i="0">
                <a:solidFill>
                  <a:srgbClr val="1B3A6B"/>
                </a:solidFill>
              </a:rPr>
              <a:t>friendly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04120" y="3063239"/>
            <a:ext cx="1810512" cy="1554480"/>
          </a:xfrm>
          <a:prstGeom prst="rect">
            <a:avLst/>
          </a:prstGeom>
          <a:solidFill>
            <a:srgbClr val="D5F5E3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20" y="3136391"/>
            <a:ext cx="18105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0" i="0">
                <a:solidFill>
                  <a:srgbClr val="2C3E50"/>
                </a:solidFill>
              </a:rPr>
              <a:t>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04120" y="3840479"/>
            <a:ext cx="181051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3A6B"/>
                </a:solidFill>
              </a:rPr>
              <a:t>Sincronización</a:t>
            </a:r>
          </a:p>
          <a:p>
            <a:pPr algn="ctr"/>
            <a:r>
              <a:rPr sz="1100" b="1" i="0">
                <a:solidFill>
                  <a:srgbClr val="1B3A6B"/>
                </a:solidFill>
              </a:rPr>
              <a:t>automática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RESPOND Guatemala · Registro de Trauma · Confidencial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9728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Arquitectura técnica actual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AED6F1"/>
                </a:solidFill>
              </a:rPr>
              <a:t>Stack moderno, probado en producción, $0/mes de costo operativo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394960" cy="50292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029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B3A6B"/>
                </a:solidFill>
              </a:rPr>
              <a:t>Stack tecnológico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74519"/>
            <a:ext cx="5303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901952"/>
            <a:ext cx="19202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1" i="0">
                <a:solidFill>
                  <a:srgbClr val="1B3A6B"/>
                </a:solidFill>
              </a:rPr>
              <a:t>⚡ Next.js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920240"/>
            <a:ext cx="3108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Framework frontend + backend (React)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386584"/>
            <a:ext cx="5303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414016"/>
            <a:ext cx="19202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1" i="0">
                <a:solidFill>
                  <a:srgbClr val="1B3A6B"/>
                </a:solidFill>
              </a:rPr>
              <a:t>🔷 TypeScript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432304"/>
            <a:ext cx="3108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Tipado estático, menos bugs en producción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898648"/>
            <a:ext cx="5303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926080"/>
            <a:ext cx="19202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1" i="0">
                <a:solidFill>
                  <a:srgbClr val="1B3A6B"/>
                </a:solidFill>
              </a:rPr>
              <a:t>🗄️ Supabase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944368"/>
            <a:ext cx="3108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Base de datos PostgreSQL + autenticación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410712"/>
            <a:ext cx="5303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438144"/>
            <a:ext cx="19202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1" i="0">
                <a:solidFill>
                  <a:srgbClr val="1B3A6B"/>
                </a:solidFill>
              </a:rPr>
              <a:t>🎨 Tailwind CSS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456432"/>
            <a:ext cx="3108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Diseño responsive mobile-first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922776"/>
            <a:ext cx="5303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950208"/>
            <a:ext cx="19202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1" i="0">
                <a:solidFill>
                  <a:srgbClr val="1B3A6B"/>
                </a:solidFill>
              </a:rPr>
              <a:t>🧩 Shadcn/UI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3968496"/>
            <a:ext cx="3108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Componentes UI accesibles y consistentes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434840"/>
            <a:ext cx="5303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462272"/>
            <a:ext cx="19202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1" i="0">
                <a:solidFill>
                  <a:srgbClr val="1B3A6B"/>
                </a:solidFill>
              </a:rPr>
              <a:t>☁️ Vercel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4480560"/>
            <a:ext cx="3108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Hosting global, CDN, deploys automáticos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46904"/>
            <a:ext cx="5303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974336"/>
            <a:ext cx="19202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1" i="0">
                <a:solidFill>
                  <a:srgbClr val="1B3A6B"/>
                </a:solidFill>
              </a:rPr>
              <a:t>📴 Service Worker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4992624"/>
            <a:ext cx="3108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PWA offline-first con sincronización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1280160"/>
            <a:ext cx="5943600" cy="50292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1371600"/>
            <a:ext cx="55778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B3A6B"/>
                </a:solidFill>
              </a:rPr>
              <a:t>Flujo de datos actual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1828800"/>
            <a:ext cx="5486400" cy="56692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1874519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👤 Usuario (browser)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2468879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2E6DB4"/>
                </a:solidFill>
              </a:rPr>
              <a:t>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2779775"/>
            <a:ext cx="5486400" cy="56692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2825495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📱 App Next.js (Vercel)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419856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2E6DB4"/>
                </a:solidFill>
              </a:rPr>
              <a:t>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3730752"/>
            <a:ext cx="5486400" cy="566928"/>
          </a:xfrm>
          <a:prstGeom prst="rect">
            <a:avLst/>
          </a:prstGeom>
          <a:solidFill>
            <a:srgbClr val="1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3776472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🔐 Supabase Auth</a:t>
            </a:r>
          </a:p>
          <a:p>
            <a:pPr algn="ctr"/>
            <a:r>
              <a:rPr sz="1100" b="1" i="0">
                <a:solidFill>
                  <a:srgbClr val="FFFFFF"/>
                </a:solidFill>
              </a:rPr>
              <a:t>(JWT tokens)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370832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2E6DB4"/>
                </a:solidFill>
              </a:rPr>
              <a:t>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4681728"/>
            <a:ext cx="5486400" cy="566928"/>
          </a:xfrm>
          <a:prstGeom prst="rect">
            <a:avLst/>
          </a:prstGeom>
          <a:solidFill>
            <a:srgbClr val="0E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72200" y="4727448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🗄️ Supabase PostgreSQL</a:t>
            </a:r>
          </a:p>
          <a:p>
            <a:pPr algn="ctr"/>
            <a:r>
              <a:rPr sz="1100" b="1" i="0">
                <a:solidFill>
                  <a:srgbClr val="FFFFFF"/>
                </a:solidFill>
              </a:rPr>
              <a:t>(RLS policies)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5321808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2E6DB4"/>
                </a:solidFill>
              </a:rPr>
              <a:t>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5632704"/>
            <a:ext cx="5486400" cy="56692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72200" y="5678424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📊 Dashboard / Excel Export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RESPOND Guatemala · Registro de Trauma · Confidencial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9728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Seguridad de la plataforma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AED6F1"/>
                </a:solidFill>
              </a:rPr>
              <a:t>Protecciones implementadas en el MVP actual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577840" cy="502920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212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E8B4C"/>
                </a:solidFill>
              </a:rPr>
              <a:t>✅  Seguridad implementada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74519"/>
            <a:ext cx="54864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911095"/>
            <a:ext cx="19202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E8B4C"/>
                </a:solidFill>
              </a:rPr>
              <a:t>🔒 HTTPS/TLS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938528"/>
            <a:ext cx="33832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Todo el tráfico cifrado en tránsito — certificado automático Vercel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468879"/>
            <a:ext cx="54864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505456"/>
            <a:ext cx="19202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E8B4C"/>
                </a:solidFill>
              </a:rPr>
              <a:t>🔐 Autenticación JWT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532888"/>
            <a:ext cx="33832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Tokens firmados con rotación automática (Supabase Auth)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063239"/>
            <a:ext cx="54864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099815"/>
            <a:ext cx="19202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E8B4C"/>
                </a:solidFill>
              </a:rPr>
              <a:t>🛡️ Row Level 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3127248"/>
            <a:ext cx="33832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Cada usuario solo ve sus propios pacientes (PostgreSQL RLS)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657600"/>
            <a:ext cx="54864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694176"/>
            <a:ext cx="19202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E8B4C"/>
                </a:solidFill>
              </a:rPr>
              <a:t>💾 Cifrado en reposo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721608"/>
            <a:ext cx="33832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Base de datos cifrada AES-256 (Supabase/AWS)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251960"/>
            <a:ext cx="54864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288536"/>
            <a:ext cx="19202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E8B4C"/>
                </a:solidFill>
              </a:rPr>
              <a:t>🌐 CDN Global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4315968"/>
            <a:ext cx="33832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Vercel Edge Network — protección DDoS incluida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846320"/>
            <a:ext cx="54864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882896"/>
            <a:ext cx="19202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E8B4C"/>
                </a:solidFill>
              </a:rPr>
              <a:t>🔑 Variables de entorno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4910328"/>
            <a:ext cx="33832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Secretos en Vercel, nunca en el código fuente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440680"/>
            <a:ext cx="54864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477256"/>
            <a:ext cx="19202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E8B4C"/>
                </a:solidFill>
              </a:rPr>
              <a:t>📦 SOC 2 Type II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5504688"/>
            <a:ext cx="33832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Supabase certificado — auditorías anuales de seguridad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1280160"/>
            <a:ext cx="5760720" cy="502920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1371600"/>
            <a:ext cx="5394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E67E22"/>
                </a:solidFill>
              </a:rPr>
              <a:t>⚠️  Pendiente para HIPAA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874519"/>
            <a:ext cx="56692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1911095"/>
            <a:ext cx="19202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⏱️ Session timeout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1938528"/>
            <a:ext cx="3474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Auto-logout tras 15 min de inactividad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2468879"/>
            <a:ext cx="56692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2505456"/>
            <a:ext cx="19202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📋 Audit log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2532888"/>
            <a:ext cx="3474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Registro de quién accedió/modificó qué paciente y cuándo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3063239"/>
            <a:ext cx="56692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3099815"/>
            <a:ext cx="19202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📱 MFA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127248"/>
            <a:ext cx="3474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Autenticación de 2 factores para todos los usuarios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3657600"/>
            <a:ext cx="56692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3640" y="3694176"/>
            <a:ext cx="19202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🔏 BAA firmado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3721608"/>
            <a:ext cx="3474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Contrato legal con el proveedor de base de datos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4251960"/>
            <a:ext cx="56692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4288536"/>
            <a:ext cx="19202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📄 Políticas de privacidad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4315968"/>
            <a:ext cx="3474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Aviso de prácticas de privacidad publicado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4846320"/>
            <a:ext cx="56692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3640" y="4882896"/>
            <a:ext cx="19202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📊 Risk Assessment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4910328"/>
            <a:ext cx="3474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Documentación formal de evaluación de riesgos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72200" y="5440680"/>
            <a:ext cx="56692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63640" y="5477256"/>
            <a:ext cx="19202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🎓 Training records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5504688"/>
            <a:ext cx="3474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Registro de entrenamiento del personal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RESPOND Guatemala · Registro de Trauma · Confidencial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9728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¿Por qué necesitamos cumplir con HIPAA?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AED6F1"/>
                </a:solidFill>
              </a:rPr>
              <a:t>Requerimiento de los mentores para continuar el proyecto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3749039" cy="50292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383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⚖️  ¿Qué es HIPAA?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74519"/>
            <a:ext cx="3383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Health Insurance Portability</a:t>
            </a:r>
          </a:p>
          <a:p>
            <a:pPr algn="l"/>
            <a:r>
              <a:rPr sz="1150" b="0" i="0">
                <a:solidFill>
                  <a:srgbClr val="2C3E50"/>
                </a:solidFill>
              </a:rPr>
              <a:t>and Accountability Act</a:t>
            </a:r>
          </a:p>
          <a:p>
            <a:pPr algn="l"/>
            <a:r>
              <a:rPr sz="1150" b="0" i="0">
                <a:solidFill>
                  <a:srgbClr val="2C3E50"/>
                </a:solidFill>
              </a:rPr>
              <a:t>(Ley federal de EE.UU., 1996)</a:t>
            </a:r>
          </a:p>
          <a:p>
            <a:pPr algn="l"/>
            <a:r>
              <a:rPr sz="1150" b="0" i="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50" b="0" i="0">
                <a:solidFill>
                  <a:srgbClr val="2C3E50"/>
                </a:solidFill>
              </a:rPr>
              <a:t>Protege la información médica</a:t>
            </a:r>
          </a:p>
          <a:p>
            <a:pPr algn="l"/>
            <a:r>
              <a:rPr sz="1150" b="0" i="0">
                <a:solidFill>
                  <a:srgbClr val="2C3E50"/>
                </a:solidFill>
              </a:rPr>
              <a:t>identificable de pacientes</a:t>
            </a:r>
          </a:p>
          <a:p>
            <a:pPr algn="l"/>
            <a:r>
              <a:rPr sz="1150" b="0" i="0">
                <a:solidFill>
                  <a:srgbClr val="2C3E50"/>
                </a:solidFill>
              </a:rPr>
              <a:t>(PHI — Protected Health Information)</a:t>
            </a:r>
          </a:p>
          <a:p>
            <a:pPr algn="l"/>
            <a:r>
              <a:rPr sz="1150" b="0" i="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50" b="0" i="0">
                <a:solidFill>
                  <a:srgbClr val="2C3E50"/>
                </a:solidFill>
              </a:rPr>
              <a:t>Requiere:</a:t>
            </a:r>
          </a:p>
          <a:p>
            <a:pPr algn="l"/>
            <a:r>
              <a:rPr sz="1150" b="0" i="0">
                <a:solidFill>
                  <a:srgbClr val="2C3E50"/>
                </a:solidFill>
              </a:rPr>
              <a:t>• Confidencialidad</a:t>
            </a:r>
          </a:p>
          <a:p>
            <a:pPr algn="l"/>
            <a:r>
              <a:rPr sz="1150" b="0" i="0">
                <a:solidFill>
                  <a:srgbClr val="2C3E50"/>
                </a:solidFill>
              </a:rPr>
              <a:t>• Integridad</a:t>
            </a:r>
          </a:p>
          <a:p>
            <a:pPr algn="l"/>
            <a:r>
              <a:rPr sz="1150" b="0" i="0">
                <a:solidFill>
                  <a:srgbClr val="2C3E50"/>
                </a:solidFill>
              </a:rPr>
              <a:t>• Disponibilidad</a:t>
            </a:r>
          </a:p>
          <a:p>
            <a:pPr algn="l"/>
            <a:r>
              <a:rPr sz="1150" b="0" i="0">
                <a:solidFill>
                  <a:srgbClr val="2C3E50"/>
                </a:solidFill>
              </a:rPr>
              <a:t>de todos los datos del paciente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280160"/>
            <a:ext cx="3657600" cy="502920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371600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🌎  ¿Aplica en Guatemala?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874519"/>
            <a:ext cx="3383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Técnicamente NO — HIPAA</a:t>
            </a:r>
          </a:p>
          <a:p>
            <a:pPr algn="l"/>
            <a:r>
              <a:rPr sz="1150" b="0" i="0">
                <a:solidFill>
                  <a:srgbClr val="2C3E50"/>
                </a:solidFill>
              </a:rPr>
              <a:t>es ley estadounidense.</a:t>
            </a:r>
          </a:p>
          <a:p>
            <a:pPr algn="l"/>
            <a:r>
              <a:rPr sz="1150" b="0" i="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50" b="0" i="0">
                <a:solidFill>
                  <a:srgbClr val="2C3E50"/>
                </a:solidFill>
              </a:rPr>
              <a:t>PERO aplica cuando:</a:t>
            </a:r>
          </a:p>
          <a:p>
            <a:pPr algn="l"/>
            <a:r>
              <a:rPr sz="1150" b="0" i="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50" b="0" i="0">
                <a:solidFill>
                  <a:srgbClr val="2C3E50"/>
                </a:solidFill>
              </a:rPr>
              <a:t>• Los mentores son de una</a:t>
            </a:r>
          </a:p>
          <a:p>
            <a:pPr algn="l"/>
            <a:r>
              <a:rPr sz="1150" b="0" i="0">
                <a:solidFill>
                  <a:srgbClr val="2C3E50"/>
                </a:solidFill>
              </a:rPr>
              <a:t>  institución de EE.UU. (BU)</a:t>
            </a:r>
          </a:p>
          <a:p>
            <a:pPr algn="l"/>
            <a:r>
              <a:rPr sz="1150" b="0" i="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50" b="0" i="0">
                <a:solidFill>
                  <a:srgbClr val="2C3E50"/>
                </a:solidFill>
              </a:rPr>
              <a:t>• El financiamiento es de</a:t>
            </a:r>
          </a:p>
          <a:p>
            <a:pPr algn="l"/>
            <a:r>
              <a:rPr sz="1150" b="0" i="0">
                <a:solidFill>
                  <a:srgbClr val="2C3E50"/>
                </a:solidFill>
              </a:rPr>
              <a:t>  NIH u otras fuentes de EE.UU.</a:t>
            </a:r>
          </a:p>
          <a:p>
            <a:pPr algn="l"/>
            <a:r>
              <a:rPr sz="1150" b="0" i="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50" b="0" i="0">
                <a:solidFill>
                  <a:srgbClr val="2C3E50"/>
                </a:solidFill>
              </a:rPr>
              <a:t>• Se planea publicar datos</a:t>
            </a:r>
          </a:p>
          <a:p>
            <a:pPr algn="l"/>
            <a:r>
              <a:rPr sz="1150" b="0" i="0">
                <a:solidFill>
                  <a:srgbClr val="2C3E50"/>
                </a:solidFill>
              </a:rPr>
              <a:t>  en revistas que requieren</a:t>
            </a:r>
          </a:p>
          <a:p>
            <a:pPr algn="l"/>
            <a:r>
              <a:rPr sz="1150" b="0" i="0">
                <a:solidFill>
                  <a:srgbClr val="2C3E50"/>
                </a:solidFill>
              </a:rPr>
              <a:t>  estándares internacionales</a:t>
            </a:r>
          </a:p>
          <a:p>
            <a:pPr algn="l"/>
            <a:r>
              <a:rPr sz="1150" b="0" i="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50" b="0" i="0">
                <a:solidFill>
                  <a:srgbClr val="2C3E50"/>
                </a:solidFill>
              </a:rPr>
              <a:t>→ Cumplir con HIPAA es</a:t>
            </a:r>
          </a:p>
          <a:p>
            <a:pPr algn="l"/>
            <a:r>
              <a:rPr sz="1150" b="0" i="0">
                <a:solidFill>
                  <a:srgbClr val="2C3E50"/>
                </a:solidFill>
              </a:rPr>
              <a:t>  el estándar de oro para</a:t>
            </a:r>
          </a:p>
          <a:p>
            <a:pPr algn="l"/>
            <a:r>
              <a:rPr sz="1150" b="0" i="0">
                <a:solidFill>
                  <a:srgbClr val="2C3E50"/>
                </a:solidFill>
              </a:rPr>
              <a:t>  investigación clínica seria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280160"/>
            <a:ext cx="3749039" cy="50292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371600"/>
            <a:ext cx="3383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📋  ¿Qué protege?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01952"/>
            <a:ext cx="338328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▸  Nombre del paciente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377440"/>
            <a:ext cx="338328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▸  Fecha de nacimiento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852928"/>
            <a:ext cx="338328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▸  Número de expediente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328416"/>
            <a:ext cx="338328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▸  Fecha de admisión/alta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803904"/>
            <a:ext cx="338328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▸  Diagnóstico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279392"/>
            <a:ext cx="338328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▸  Resultados clínicos (GCS, ISS)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754880"/>
            <a:ext cx="338328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▸  Procedimientos realizados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5230368"/>
            <a:ext cx="338328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▸  Condición al egreso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5705856"/>
            <a:ext cx="338328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▸  Cualquier dato que permita
identificar al paciente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RESPOND Guatemala · Registro de Trauma · Confidencial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9728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Opción 1: Integración con REDCap  ⭐ RECOMENDADA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AED6F1"/>
                </a:solidFill>
              </a:rPr>
              <a:t>La app en Vercel envía datos directamente al servidor REDCap institucional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520" y="1234440"/>
            <a:ext cx="2011680" cy="50292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93808" y="1261872"/>
            <a:ext cx="1975104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⭐ RECOMENDADA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11640312" cy="210312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7315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Flujo de datos con REDCap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83080"/>
            <a:ext cx="1554480" cy="14630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2024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👤</a:t>
            </a:r>
          </a:p>
          <a:p>
            <a:pPr algn="ctr"/>
            <a:r>
              <a:rPr sz="1050" b="1" i="0">
                <a:solidFill>
                  <a:srgbClr val="FFFFFF"/>
                </a:solidFill>
              </a:rPr>
              <a:t>Enfermera</a:t>
            </a:r>
          </a:p>
          <a:p>
            <a:pPr algn="ctr"/>
            <a:r>
              <a:rPr sz="1050" b="1" i="0">
                <a:solidFill>
                  <a:srgbClr val="FFFFFF"/>
                </a:solidFill>
              </a:rPr>
              <a:t>/ Médico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1783080"/>
            <a:ext cx="1737360" cy="146304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192024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📱</a:t>
            </a:r>
          </a:p>
          <a:p>
            <a:pPr algn="ctr"/>
            <a:r>
              <a:rPr sz="1050" b="1" i="0">
                <a:solidFill>
                  <a:srgbClr val="FFFFFF"/>
                </a:solidFill>
              </a:rPr>
              <a:t>App RESPOND</a:t>
            </a:r>
          </a:p>
          <a:p>
            <a:pPr algn="ctr"/>
            <a:r>
              <a:rPr sz="1050" b="1" i="0">
                <a:solidFill>
                  <a:srgbClr val="FFFFFF"/>
                </a:solidFill>
              </a:rPr>
              <a:t>(Vercel)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783080"/>
            <a:ext cx="1645920" cy="1463040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1920240"/>
            <a:ext cx="1645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🔀</a:t>
            </a:r>
          </a:p>
          <a:p>
            <a:pPr algn="ctr"/>
            <a:r>
              <a:rPr sz="1050" b="1" i="0">
                <a:solidFill>
                  <a:srgbClr val="FFFFFF"/>
                </a:solidFill>
              </a:rPr>
              <a:t>API Route</a:t>
            </a:r>
          </a:p>
          <a:p>
            <a:pPr algn="ctr"/>
            <a:r>
              <a:rPr sz="1050" b="1" i="0">
                <a:solidFill>
                  <a:srgbClr val="FFFFFF"/>
                </a:solidFill>
              </a:rPr>
              <a:t>Next.js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783080"/>
            <a:ext cx="1828800" cy="1463040"/>
          </a:xfrm>
          <a:prstGeom prst="rect">
            <a:avLst/>
          </a:prstGeom>
          <a:solidFill>
            <a:srgbClr val="0E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92024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🏛️</a:t>
            </a:r>
          </a:p>
          <a:p>
            <a:pPr algn="ctr"/>
            <a:r>
              <a:rPr sz="1050" b="1" i="0">
                <a:solidFill>
                  <a:srgbClr val="FFFFFF"/>
                </a:solidFill>
              </a:rPr>
              <a:t>REDCap API</a:t>
            </a:r>
          </a:p>
          <a:p>
            <a:pPr algn="ctr"/>
            <a:r>
              <a:rPr sz="1050" b="1" i="0">
                <a:solidFill>
                  <a:srgbClr val="FFFFFF"/>
                </a:solidFill>
              </a:rPr>
              <a:t>(institucional)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20" y="1783080"/>
            <a:ext cx="1920240" cy="1463040"/>
          </a:xfrm>
          <a:prstGeom prst="rect">
            <a:avLst/>
          </a:prstGeom>
          <a:solidFill>
            <a:srgbClr val="0E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92024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🗄️</a:t>
            </a:r>
          </a:p>
          <a:p>
            <a:pPr algn="ctr"/>
            <a:r>
              <a:rPr sz="1050" b="1" i="0">
                <a:solidFill>
                  <a:srgbClr val="FFFFFF"/>
                </a:solidFill>
              </a:rPr>
              <a:t>Servidor REDCap</a:t>
            </a:r>
          </a:p>
          <a:p>
            <a:pPr algn="ctr"/>
            <a:r>
              <a:rPr sz="1050" b="1" i="0">
                <a:solidFill>
                  <a:srgbClr val="FFFFFF"/>
                </a:solidFill>
              </a:rPr>
              <a:t>BU / Institución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24160" y="1783080"/>
            <a:ext cx="1463040" cy="14630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0" y="1920240"/>
            <a:ext cx="1463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🔒</a:t>
            </a:r>
          </a:p>
          <a:p>
            <a:pPr algn="ctr"/>
            <a:r>
              <a:rPr sz="1050" b="1" i="0">
                <a:solidFill>
                  <a:srgbClr val="FFFFFF"/>
                </a:solidFill>
              </a:rPr>
              <a:t>HIPAA</a:t>
            </a:r>
          </a:p>
          <a:p>
            <a:pPr algn="ctr"/>
            <a:r>
              <a:rPr sz="1050" b="1" i="0">
                <a:solidFill>
                  <a:srgbClr val="FFFFFF"/>
                </a:solidFill>
              </a:rPr>
              <a:t>Cubierto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2286000"/>
            <a:ext cx="3200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2E6DB4"/>
                </a:solidFill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2286000"/>
            <a:ext cx="3200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2E6DB4"/>
                </a:solidFill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286000"/>
            <a:ext cx="3200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2E6DB4"/>
                </a:solidFill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286000"/>
            <a:ext cx="3200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2E6DB4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2286000"/>
            <a:ext cx="3200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2E6DB4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611880"/>
            <a:ext cx="5577840" cy="297180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703320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E8B4C"/>
                </a:solidFill>
              </a:rPr>
              <a:t>✅  Ventajas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187952"/>
            <a:ext cx="1783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E8B4C"/>
                </a:solidFill>
              </a:rPr>
              <a:t>💰 Costo $0/año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206240"/>
            <a:ext cx="34747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Si la institución ya tiene REDCap (BU lo tiene)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4663440"/>
            <a:ext cx="1783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E8B4C"/>
                </a:solidFill>
              </a:rPr>
              <a:t>🔒 HIPAA cubierto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681727"/>
            <a:ext cx="34747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La institución es responsable legal, no tú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5138928"/>
            <a:ext cx="1783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E8B4C"/>
                </a:solidFill>
              </a:rPr>
              <a:t>📊 Exportaciones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5157216"/>
            <a:ext cx="34747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SPSS, Stata, R, CSV, Excel — nativas en REDCap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5614416"/>
            <a:ext cx="1783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E8B4C"/>
                </a:solidFill>
              </a:rPr>
              <a:t>🎓 Estándar en research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632704"/>
            <a:ext cx="34747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6,000+ instituciones lo usan mundialmente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089904"/>
            <a:ext cx="1783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E8B4C"/>
                </a:solidFill>
              </a:rPr>
              <a:t>🚀 Sin BAA que firmar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6108192"/>
            <a:ext cx="34747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El departamento de IT institucional lo gestiona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3611880"/>
            <a:ext cx="5760720" cy="297180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3703320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67E22"/>
                </a:solidFill>
              </a:rPr>
              <a:t>⚠️  Consideraciones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187952"/>
            <a:ext cx="1920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🏛️ Requiere institución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4206240"/>
            <a:ext cx="35204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Necesitas que BU u otra institución abra el proyecto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4663440"/>
            <a:ext cx="1920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🗺️ Mapeo de campos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4681727"/>
            <a:ext cx="35204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Los campos del form deben mapearse a variables REDCap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5138928"/>
            <a:ext cx="1920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📴 Offline limitado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5157216"/>
            <a:ext cx="35204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REDCap API requiere conexión (soluble con caché local)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5614416"/>
            <a:ext cx="1920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📈 Dashboard externo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5632704"/>
            <a:ext cx="35204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REDCap reports son básicos — tu app puede pullar los datos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6089904"/>
            <a:ext cx="1920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⏱️ Setup inicial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6108192"/>
            <a:ext cx="35204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~1 semana para coordinar con IT + mapear variables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RESPOND Guatemala · Registro de Trauma · Confidencial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9728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REDCap — Integración técnica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AED6F1"/>
                </a:solidFill>
              </a:rPr>
              <a:t>La app ya existente se conecta al API de REDCap con cambios mínimos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394960" cy="50292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029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🔧 ¿Qué cambia en el código?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20240"/>
            <a:ext cx="1097280" cy="50292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1938528"/>
            <a:ext cx="1060704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Muy poco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965960"/>
            <a:ext cx="4023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El formulario de 16 pasos no cambia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606040"/>
            <a:ext cx="1097280" cy="50292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2624328"/>
            <a:ext cx="1060704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Muy poco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651760"/>
            <a:ext cx="4023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El dashboard puede seguir leyendo de REDCap 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291840"/>
            <a:ext cx="1097280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" y="3310128"/>
            <a:ext cx="1060704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Nuevo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337560"/>
            <a:ext cx="4023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API route en Next.js que recibe el form y hace POST a REDCap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977639"/>
            <a:ext cx="1097280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" y="3995928"/>
            <a:ext cx="1060704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Nuevo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023360"/>
            <a:ext cx="4023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Mapeo de campos: nombre_campo_app → redcap_variable_name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663440"/>
            <a:ext cx="1097280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" y="4681728"/>
            <a:ext cx="1060704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Nuevo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709160"/>
            <a:ext cx="4023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Variable de entorno: REDCAP_API_TOKEN + REDCAP_URL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349240"/>
            <a:ext cx="109728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" y="5367528"/>
            <a:ext cx="1060704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Opcional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394960"/>
            <a:ext cx="4023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Caché local (IndexedDB) para modo offline → sync al reconectar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1280160"/>
            <a:ext cx="5943600" cy="50292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371600"/>
            <a:ext cx="55778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📋 Proceso de setup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1920240"/>
            <a:ext cx="411480" cy="4754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07608" y="1947672"/>
            <a:ext cx="374904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1965960"/>
            <a:ext cx="38404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Solicitar proyecto REDCap en BU (IT dept.)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78440" y="1965960"/>
            <a:ext cx="13716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1">
                <a:solidFill>
                  <a:srgbClr val="7F8C8D"/>
                </a:solidFill>
              </a:rPr>
              <a:t>~1-3 días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89320" y="2514600"/>
            <a:ext cx="411480" cy="4754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07608" y="2542032"/>
            <a:ext cx="374904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2560320"/>
            <a:ext cx="38404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Definir variables REDCap = campos del form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78440" y="2560320"/>
            <a:ext cx="13716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1">
                <a:solidFill>
                  <a:srgbClr val="7F8C8D"/>
                </a:solidFill>
              </a:rPr>
              <a:t>~1 día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20" y="3108960"/>
            <a:ext cx="411480" cy="4754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07608" y="3136391"/>
            <a:ext cx="374904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3154680"/>
            <a:ext cx="38404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Generar API token en REDCap 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78440" y="3154680"/>
            <a:ext cx="13716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1">
                <a:solidFill>
                  <a:srgbClr val="7F8C8D"/>
                </a:solidFill>
              </a:rPr>
              <a:t>5 min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9320" y="3703320"/>
            <a:ext cx="411480" cy="4754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07608" y="3730752"/>
            <a:ext cx="374904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3749039"/>
            <a:ext cx="38404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Escribir la API route en Next.js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78440" y="3749039"/>
            <a:ext cx="13716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1">
                <a:solidFill>
                  <a:srgbClr val="7F8C8D"/>
                </a:solidFill>
              </a:rPr>
              <a:t>~4-8 horas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89320" y="4297680"/>
            <a:ext cx="411480" cy="4754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07608" y="4325112"/>
            <a:ext cx="374904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4343400"/>
            <a:ext cx="38404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Mapear 50-60 campos del form al API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78440" y="4343400"/>
            <a:ext cx="13716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1">
                <a:solidFill>
                  <a:srgbClr val="7F8C8D"/>
                </a:solidFill>
              </a:rPr>
              <a:t>~4-8 horas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89320" y="4892040"/>
            <a:ext cx="411480" cy="4754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07608" y="4919472"/>
            <a:ext cx="374904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4937760"/>
            <a:ext cx="38404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Testing end-to-end (form → REDCap)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78440" y="4937760"/>
            <a:ext cx="13716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1">
                <a:solidFill>
                  <a:srgbClr val="7F8C8D"/>
                </a:solidFill>
              </a:rPr>
              <a:t>~1 día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89320" y="5486400"/>
            <a:ext cx="411480" cy="4754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07608" y="5513832"/>
            <a:ext cx="374904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5532120"/>
            <a:ext cx="38404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Deploy + capacitación del equipo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78440" y="5532120"/>
            <a:ext cx="13716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1">
                <a:solidFill>
                  <a:srgbClr val="7F8C8D"/>
                </a:solidFill>
              </a:rPr>
              <a:t>~1 día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89320" y="5852159"/>
            <a:ext cx="5852160" cy="43891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80760" y="5879592"/>
            <a:ext cx="56692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⏱️  Tiempo total estimado: 1–2 semanas  ·  Costo de desarrollo: mínimo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RESPOND Guatemala · Registro de Trauma · Confidencial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9728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Opción 2: Supabase Pro + BAA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AED6F1"/>
                </a:solidFill>
              </a:rPr>
              <a:t>Upgrade del backend actual — mínimo cambio de código, HIPAA compliant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011680" cy="82296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07592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$300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83080"/>
            <a:ext cx="2011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por año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280160"/>
            <a:ext cx="9418320" cy="8229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1325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La app ya está 100% construida sobre Supabase. Solo se hace upgrade al plan Pro ($25/mes) y se firma el BAA (Business Associate Agreement). No hay migración de código.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40280"/>
            <a:ext cx="11640312" cy="13716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04288"/>
            <a:ext cx="3657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B3A6B"/>
                </a:solidFill>
              </a:rPr>
              <a:t>Arquitectura (sin cambios):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697480"/>
            <a:ext cx="2194560" cy="6400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" y="2724912"/>
            <a:ext cx="2139696" cy="58521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👤 Usuario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2032" y="2898648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2E6DB4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39" y="2697480"/>
            <a:ext cx="2194560" cy="64008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33472" y="2724912"/>
            <a:ext cx="2139696" cy="58521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📱 App Vercel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2898648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2E6DB4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59" y="2697480"/>
            <a:ext cx="2194560" cy="640080"/>
          </a:xfrm>
          <a:prstGeom prst="rect">
            <a:avLst/>
          </a:prstGeom>
          <a:solidFill>
            <a:srgbClr val="0E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65192" y="2724912"/>
            <a:ext cx="2139696" cy="58521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🔐 Supabase Auth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5471" y="2898648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2E6DB4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9479" y="2697480"/>
            <a:ext cx="2194560" cy="640080"/>
          </a:xfrm>
          <a:prstGeom prst="rect">
            <a:avLst/>
          </a:prstGeom>
          <a:solidFill>
            <a:srgbClr val="0E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6912" y="2724912"/>
            <a:ext cx="2139696" cy="58521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🗄️ Supabase PostgreSQL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7192" y="2898648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2E6DB4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0" y="2697480"/>
            <a:ext cx="2194560" cy="64008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28632" y="2724912"/>
            <a:ext cx="2139696" cy="58521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✅ BAA firmado = HIPAA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749039"/>
            <a:ext cx="5577840" cy="278892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840479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E8B4C"/>
                </a:solidFill>
              </a:rPr>
              <a:t>✅  Ventajas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343400"/>
            <a:ext cx="5212080" cy="3931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✓  Cero cambios en el código de la 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782312"/>
            <a:ext cx="5212080" cy="3931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✓  BAA disponible en plan Pro — se firma en el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5221224"/>
            <a:ext cx="5212080" cy="3931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✓  Supabase corre sobre AWS us-east-1 (misma infraestructura que hospitales grandes)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5660136"/>
            <a:ext cx="5212080" cy="3931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✓  Auth, DB, RLS, storage — todo HIPAA en un solo proveedor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099048"/>
            <a:ext cx="5212080" cy="3931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✓  Dashboard, offline PWA y exportaciones funcionan igual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3749039"/>
            <a:ext cx="5760720" cy="278892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3840479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67E22"/>
                </a:solidFill>
              </a:rPr>
              <a:t>⚠️  Consideraciones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343400"/>
            <a:ext cx="5394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▸  Costo fijo $25/mes aunque tengas 0 pacientes ese mes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910328"/>
            <a:ext cx="5394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▸  Vercel sigue siendo gratuito (PHI no pasa por Vercel)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5477256"/>
            <a:ext cx="5394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▸  Requiere configurar session timeout + audit log + MFA (~1-2 días)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6044183"/>
            <a:ext cx="5394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▸  Documentación administrativa aún necesaria (risk assessment, policies)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669280"/>
            <a:ext cx="11640312" cy="3840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5696712"/>
            <a:ext cx="11430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PASOS:   1. Upgrade Supabase → Pro   →   2. Firmar BAA en dashboard   →   3. Configurar session timeout + MFA + audit log   →   4. Documentar risk assessment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RESPOND Guatemala · Registro de Trauma · Confidencial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9728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Opción 3: Amazon Web Services (AWS)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AED6F1"/>
                </a:solidFill>
              </a:rPr>
              <a:t>Infraestructura de clase empresarial — máxima flexibilidad y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011680" cy="8229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07592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$600–$1,800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83080"/>
            <a:ext cx="2011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por año (variable)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280160"/>
            <a:ext cx="9144000" cy="82296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325880"/>
            <a:ext cx="8869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C3E50"/>
                </a:solidFill>
              </a:rPr>
              <a:t>AWS firma BAA en cualquier plan pago. RDS PostgreSQL + Cognito (auth) + Amplify (hosting).</a:t>
            </a:r>
          </a:p>
          <a:p>
            <a:pPr algn="l"/>
            <a:r>
              <a:rPr sz="1250" b="0" i="0">
                <a:solidFill>
                  <a:srgbClr val="2C3E50"/>
                </a:solidFill>
              </a:rPr>
              <a:t>Migración significativa de código. Usado por Epic, Cerner y sistemas hospitalarios grandes.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40280"/>
            <a:ext cx="11640312" cy="13716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04288"/>
            <a:ext cx="3657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B3A6B"/>
                </a:solidFill>
              </a:rPr>
              <a:t>Arquitectura AWS: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651760"/>
            <a:ext cx="2194560" cy="7498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" y="2679192"/>
            <a:ext cx="2139696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👤 Usuario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2032" y="2898648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E67E22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39" y="2651760"/>
            <a:ext cx="2194560" cy="7498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33472" y="2679192"/>
            <a:ext cx="2139696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📱 AWS Amplify</a:t>
            </a:r>
          </a:p>
          <a:p>
            <a:pPr algn="ctr"/>
            <a:r>
              <a:rPr sz="1050" b="1" i="0">
                <a:solidFill>
                  <a:srgbClr val="FFFFFF"/>
                </a:solidFill>
              </a:rPr>
              <a:t>(hosting)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2898648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E67E22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59" y="2651760"/>
            <a:ext cx="2194560" cy="749808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65192" y="2679192"/>
            <a:ext cx="2139696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🔐 Cognito</a:t>
            </a:r>
          </a:p>
          <a:p>
            <a:pPr algn="ctr"/>
            <a:r>
              <a:rPr sz="1050" b="1" i="0">
                <a:solidFill>
                  <a:srgbClr val="FFFFFF"/>
                </a:solidFill>
              </a:rPr>
              <a:t>(auth)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5471" y="2898648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E67E22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9479" y="2651760"/>
            <a:ext cx="2194560" cy="749808"/>
          </a:xfrm>
          <a:prstGeom prst="rect">
            <a:avLst/>
          </a:prstGeom>
          <a:solidFill>
            <a:srgbClr val="8B3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6912" y="2679192"/>
            <a:ext cx="2139696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🗄️ RDS PostgreSQL</a:t>
            </a:r>
          </a:p>
          <a:p>
            <a:pPr algn="ctr"/>
            <a:r>
              <a:rPr sz="1050" b="1" i="0">
                <a:solidFill>
                  <a:srgbClr val="FFFFFF"/>
                </a:solidFill>
              </a:rPr>
              <a:t>+ KMS encrypt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7192" y="2898648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E67E22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0" y="2651760"/>
            <a:ext cx="2194560" cy="74980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28632" y="2679192"/>
            <a:ext cx="2139696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✅ BAA = HIPAA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749039"/>
            <a:ext cx="5577840" cy="278892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840480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E8B4C"/>
                </a:solidFill>
              </a:rPr>
              <a:t>✅  Ventajas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343400"/>
            <a:ext cx="5212080" cy="3931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✓  Estándar de oro para healthcare en EE.UU.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782312"/>
            <a:ext cx="5212080" cy="3931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✓  BAA disponible — AWS es HIPAA-eligible en todos los servicios clave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5221224"/>
            <a:ext cx="5212080" cy="3931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✓  Máximo control sobre la infraestructura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5660136"/>
            <a:ext cx="5212080" cy="3931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✓  Escala a millones de pacientes sin cambiar arquitectura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099048"/>
            <a:ext cx="5212080" cy="3931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✓  Auditoría, logging (CloudTrail) y compliance nativos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3749039"/>
            <a:ext cx="5760720" cy="278892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3840480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✗  Desventajas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343400"/>
            <a:ext cx="5394960" cy="3931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✗  Migración de todo el código — auth, DB, API — semanas de trabajo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782312"/>
            <a:ext cx="5394960" cy="3931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✗  Complejidad operativa alta: IAM, VPC, security groups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5221224"/>
            <a:ext cx="5394960" cy="3931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✗  Requiere experiencia DevOps para mantener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5660136"/>
            <a:ext cx="5394960" cy="3931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✗  Costo variable — puede subir con el uso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6099048"/>
            <a:ext cx="5394960" cy="3931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✗  Overkill para un proyecto de un hospital en etapa piloto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669280"/>
            <a:ext cx="11640312" cy="384048"/>
          </a:xfrm>
          <a:prstGeom prst="rect">
            <a:avLst/>
          </a:prstGeom>
          <a:solidFill>
            <a:srgbClr val="CC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5696712"/>
            <a:ext cx="11430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  Costo estimado: RDS db.t3.micro ~$15/mes · Cognito &lt;1K usuarios gratis · Amplify ~$1-5/mes · Extras (backups, KMS, CloudWatch) ~$5-10/mes → Total ~$25-35/mes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RESPOND Guatemala · Registro de Trauma · Confidencial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9728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Opción 4: Google Cloud Platform / Firebase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AED6F1"/>
                </a:solidFill>
              </a:rPr>
              <a:t>Flexible y de bajo costo a volúmenes bajos — BAA disponible en plan Blaze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011680" cy="822960"/>
          </a:xfrm>
          <a:prstGeom prst="rect">
            <a:avLst/>
          </a:prstGeom>
          <a:solidFill>
            <a:srgbClr val="0E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07592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$0–$360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83080"/>
            <a:ext cx="2011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por año (pay-as-you-go)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280160"/>
            <a:ext cx="9144000" cy="822960"/>
          </a:xfrm>
          <a:prstGeom prst="rect">
            <a:avLst/>
          </a:prstGeom>
          <a:solidFill>
            <a:srgbClr val="D1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325880"/>
            <a:ext cx="8869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C3E50"/>
                </a:solidFill>
              </a:rPr>
              <a:t>Google firma BAA bajo Google Cloud Platform. Firebase Auth + Firestore (o Cloud SQL) son HIPAA-eligible.</a:t>
            </a:r>
          </a:p>
          <a:p>
            <a:pPr algn="l"/>
            <a:r>
              <a:rPr sz="1250" b="0" i="0">
                <a:solidFill>
                  <a:srgbClr val="2C3E50"/>
                </a:solidFill>
              </a:rPr>
              <a:t>Costo casi $0 a volúmenes bajos. Migración significativa de código (NoSQL o nuevo ORM).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40280"/>
            <a:ext cx="11640312" cy="13716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04288"/>
            <a:ext cx="3657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B3A6B"/>
                </a:solidFill>
              </a:rPr>
              <a:t>Arquitectura GCP: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651760"/>
            <a:ext cx="2194560" cy="7498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" y="2679192"/>
            <a:ext cx="2139696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👤 Usuario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2032" y="2898648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0E868A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39" y="2651760"/>
            <a:ext cx="2194560" cy="749808"/>
          </a:xfrm>
          <a:prstGeom prst="rect">
            <a:avLst/>
          </a:prstGeom>
          <a:solidFill>
            <a:srgbClr val="0E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33472" y="2679192"/>
            <a:ext cx="2139696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📱 Cloud Run</a:t>
            </a:r>
          </a:p>
          <a:p>
            <a:pPr algn="ctr"/>
            <a:r>
              <a:rPr sz="1050" b="1" i="0">
                <a:solidFill>
                  <a:srgbClr val="FFFFFF"/>
                </a:solidFill>
              </a:rPr>
              <a:t>(hosting)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2898648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0E868A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59" y="2651760"/>
            <a:ext cx="2194560" cy="749808"/>
          </a:xfrm>
          <a:prstGeom prst="rect">
            <a:avLst/>
          </a:prstGeom>
          <a:solidFill>
            <a:srgbClr val="0A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65192" y="2679192"/>
            <a:ext cx="2139696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🔐 Firebase Auth</a:t>
            </a:r>
          </a:p>
          <a:p>
            <a:pPr algn="ctr"/>
            <a:r>
              <a:rPr sz="1050" b="1" i="0">
                <a:solidFill>
                  <a:srgbClr val="FFFFFF"/>
                </a:solidFill>
              </a:rPr>
              <a:t>(Google)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5471" y="2898648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0E868A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9479" y="2651760"/>
            <a:ext cx="2194560" cy="749808"/>
          </a:xfrm>
          <a:prstGeom prst="rect">
            <a:avLst/>
          </a:prstGeom>
          <a:solidFill>
            <a:srgbClr val="06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6912" y="2679192"/>
            <a:ext cx="2139696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🗄️ Firestore o</a:t>
            </a:r>
          </a:p>
          <a:p>
            <a:pPr algn="ctr"/>
            <a:r>
              <a:rPr sz="1050" b="1" i="0">
                <a:solidFill>
                  <a:srgbClr val="FFFFFF"/>
                </a:solidFill>
              </a:rPr>
              <a:t>Cloud 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7192" y="2898648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0E868A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0" y="2651760"/>
            <a:ext cx="2194560" cy="74980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28632" y="2679192"/>
            <a:ext cx="2139696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✅ BAA = HIPAA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749039"/>
            <a:ext cx="5577840" cy="278892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840480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E8B4C"/>
                </a:solidFill>
              </a:rPr>
              <a:t>✅  Ventajas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343400"/>
            <a:ext cx="5212080" cy="3931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✓  Costo casi $0 con volúmenes bajos de datos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782312"/>
            <a:ext cx="5212080" cy="3931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✓  Google firma BAA en plan Blaze (gratuito o pay-as-you-go)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5221224"/>
            <a:ext cx="5212080" cy="3931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✓  Firebase Auth muy sólido con MFA incluido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5660136"/>
            <a:ext cx="5212080" cy="3931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✓  Cloud SQL = PostgreSQL (más fácil migrar que Firestore)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099048"/>
            <a:ext cx="5212080" cy="3931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✓  Integración con Google Workspace / Drive para reportes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3749039"/>
            <a:ext cx="5760720" cy="278892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3840480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✗  Desventajas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343400"/>
            <a:ext cx="5394960" cy="3931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✗  Migración completa del código (Supabase → Firebase/GCP)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782312"/>
            <a:ext cx="5394960" cy="3931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✗  Firestore es NoSQL — estructura muy distinta al esquema actual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5221224"/>
            <a:ext cx="5394960" cy="3931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✗  Cloud SQL requiere configurar más piezas que Supabase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5660136"/>
            <a:ext cx="5394960" cy="3931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✗  Curva de aprendizaje de GCP vs. la simplicidad de Supabase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6099048"/>
            <a:ext cx="5394960" cy="3931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✗  Vendor lock-in en ecosistema Google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669280"/>
            <a:ext cx="11640312" cy="384048"/>
          </a:xfrm>
          <a:prstGeom prst="rect">
            <a:avLst/>
          </a:prstGeom>
          <a:solidFill>
            <a:srgbClr val="0E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5696712"/>
            <a:ext cx="11430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  Costo estimado: Firestore &lt;50K lecturas/día gratis · Firebase Auth gratis · Cloud Run $0-5/mes a bajo volumen → Total ~$0-30/mes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RESPOND Guatemala · Registro de Trauma · Confidencial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9728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Comparación de costos y características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AED6F1"/>
                </a:solidFill>
              </a:rPr>
              <a:t>Análisis anual para un hospital piloto con ~500-1,000 pacientes/año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743200" cy="10058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9844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REDCap</a:t>
            </a:r>
          </a:p>
          <a:p>
            <a:pPr algn="ctr"/>
            <a:r>
              <a:rPr sz="1200" b="1" i="0">
                <a:solidFill>
                  <a:srgbClr val="FFFFFF"/>
                </a:solidFill>
              </a:rPr>
              <a:t>(Institucional)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664208"/>
            <a:ext cx="2743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$0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167128"/>
            <a:ext cx="2743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DDDDDD"/>
                </a:solidFill>
              </a:rPr>
              <a:t>/año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280160"/>
            <a:ext cx="2743200" cy="100584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29844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Supabase Pro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664208"/>
            <a:ext cx="2743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$300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167128"/>
            <a:ext cx="2743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DDDDDD"/>
                </a:solidFill>
              </a:rPr>
              <a:t>/año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2743200" cy="1005840"/>
          </a:xfrm>
          <a:prstGeom prst="rect">
            <a:avLst/>
          </a:prstGeom>
          <a:solidFill>
            <a:srgbClr val="0E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29844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Google Cloud</a:t>
            </a:r>
          </a:p>
          <a:p>
            <a:pPr algn="ctr"/>
            <a:r>
              <a:rPr sz="1200" b="1" i="0">
                <a:solidFill>
                  <a:srgbClr val="FFFFFF"/>
                </a:solidFill>
              </a:rPr>
              <a:t>(Firebase)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664208"/>
            <a:ext cx="2743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$0–360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167128"/>
            <a:ext cx="2743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DDDDDD"/>
                </a:solidFill>
              </a:rPr>
              <a:t>/año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1280160"/>
            <a:ext cx="2743200" cy="1005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129844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AWS</a:t>
            </a:r>
          </a:p>
          <a:p>
            <a:pPr algn="ctr"/>
            <a:r>
              <a:rPr sz="1200" b="1" i="0">
                <a:solidFill>
                  <a:srgbClr val="FFFFFF"/>
                </a:solidFill>
              </a:rPr>
              <a:t>(RDS + Cognito)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1664208"/>
            <a:ext cx="2743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$300–600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167128"/>
            <a:ext cx="2743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DDDDDD"/>
                </a:solidFill>
              </a:rPr>
              <a:t>/año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468880"/>
            <a:ext cx="11640312" cy="43891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496312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Característica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39" y="2496312"/>
            <a:ext cx="2148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REDCap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2496312"/>
            <a:ext cx="2148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Supabase Pro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2496312"/>
            <a:ext cx="2148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Google Cloud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2496312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AWS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944368"/>
            <a:ext cx="11640312" cy="374904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2962656"/>
            <a:ext cx="28529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Cumplimiento HIPAA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39" y="2962656"/>
            <a:ext cx="2167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✅ Institucional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2962656"/>
            <a:ext cx="2167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✅ BAA Pro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2962656"/>
            <a:ext cx="2167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✅ BAA Blaze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2962656"/>
            <a:ext cx="19385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✅ BAA cualquier plan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328416"/>
            <a:ext cx="1164031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3346704"/>
            <a:ext cx="28529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Costo anual estimado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39" y="3346704"/>
            <a:ext cx="2167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💚 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3346704"/>
            <a:ext cx="2167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🔵 $300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3346704"/>
            <a:ext cx="2167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🟢 $0–$360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3346704"/>
            <a:ext cx="19385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🟡 $300–$600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712464"/>
            <a:ext cx="11640312" cy="374904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3730752"/>
            <a:ext cx="28529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Cambio de código requerido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39" y="3730752"/>
            <a:ext cx="2167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🟡 Medio (API)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0" y="3730752"/>
            <a:ext cx="2167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✅ Mínimo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3730752"/>
            <a:ext cx="2167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🔴 Alto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840" y="3730752"/>
            <a:ext cx="19385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🔴 Alto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096512"/>
            <a:ext cx="1164031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4114800"/>
            <a:ext cx="28529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Tiempo de implementación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39" y="4114800"/>
            <a:ext cx="2167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1–2 semanas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77840" y="4114800"/>
            <a:ext cx="2167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2–3 días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63840" y="4114800"/>
            <a:ext cx="2167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4–8 semanas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49840" y="4114800"/>
            <a:ext cx="19385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4–8 semanas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4480560"/>
            <a:ext cx="11640312" cy="374904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0040" y="4498848"/>
            <a:ext cx="28529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Offline / PWA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91839" y="4498848"/>
            <a:ext cx="2167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🟡 Con caché local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77840" y="4498848"/>
            <a:ext cx="2167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✅ Completo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4498848"/>
            <a:ext cx="2167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🟡 Con caché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49840" y="4498848"/>
            <a:ext cx="19385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🟡 Con caché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4864608"/>
            <a:ext cx="1164031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0040" y="4882896"/>
            <a:ext cx="28529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Dashboard en tiempo real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91839" y="4882896"/>
            <a:ext cx="2167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🟡 Con API pull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77840" y="4882896"/>
            <a:ext cx="2167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✅ Ya funciona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63840" y="4882896"/>
            <a:ext cx="2167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🟡 Requiere dev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49840" y="4882896"/>
            <a:ext cx="19385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🟡 Requiere dev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5248656"/>
            <a:ext cx="11640312" cy="374904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0040" y="5266944"/>
            <a:ext cx="28529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Exportar para análisis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91839" y="5266944"/>
            <a:ext cx="2167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✅ SPSS/SAS/R/CSV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77840" y="5266944"/>
            <a:ext cx="2167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✅ Excel/CSV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63840" y="5266944"/>
            <a:ext cx="2167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🟡 CSV/JSON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49840" y="5266944"/>
            <a:ext cx="19385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🟡 CSV/JSON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5632704"/>
            <a:ext cx="1164031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0040" y="5650992"/>
            <a:ext cx="28529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Conocido por investigadores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91839" y="5650992"/>
            <a:ext cx="2167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✅ Estándar de oro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577840" y="5650992"/>
            <a:ext cx="2167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🟡 No conocido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863840" y="5650992"/>
            <a:ext cx="2167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🟡 No conocido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49840" y="5650992"/>
            <a:ext cx="19385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🟡 No conocido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6016752"/>
            <a:ext cx="11640312" cy="374904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20040" y="6035040"/>
            <a:ext cx="28529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Escalabilidad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291839" y="6035040"/>
            <a:ext cx="2167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✅ Alta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577840" y="6035040"/>
            <a:ext cx="2167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✅ Alta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63840" y="6035040"/>
            <a:ext cx="2167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✅ Alta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149840" y="6035040"/>
            <a:ext cx="19385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✅ Muy alta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RESPOND Guatemala · Registro de Trauma · Confidencial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9728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Recomendación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AED6F1"/>
                </a:solidFill>
              </a:rPr>
              <a:t>Estrategia en dos fases según el objetivo del proyecto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577840" cy="507492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5577840" cy="56692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16736"/>
            <a:ext cx="530352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⭐  Fase 1 — Piloto de investigación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65960"/>
            <a:ext cx="530352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1B3A6B"/>
                </a:solidFill>
              </a:rPr>
              <a:t>REDCap + App RESPOND Guatemala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404872"/>
            <a:ext cx="5303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E8B4C"/>
                </a:solidFill>
              </a:rPr>
              <a:t>$0/año si BU tiene REDCap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880360"/>
            <a:ext cx="521208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✓  HIPAA cubierto por la institución sin costo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355848"/>
            <a:ext cx="521208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✓  Datos en servidor de BU — tranquilidad legal total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831335"/>
            <a:ext cx="521208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✓  REDCap es el estándar en publicaciones clínicas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06824"/>
            <a:ext cx="521208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✓  Exportación directa a SPSS/Stata/R para análisis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782312"/>
            <a:ext cx="521208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✓  IRB de BU puede aprobar directamente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257800"/>
            <a:ext cx="521208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✓  Mínimo costo de operación mensual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733288"/>
            <a:ext cx="521208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✓  1–2 semanas de integración técnica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280160"/>
            <a:ext cx="5760720" cy="50749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280160"/>
            <a:ext cx="5760720" cy="56692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316736"/>
            <a:ext cx="548640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🚀  Fase 2 — Escalamiento regional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965960"/>
            <a:ext cx="54864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B3A6B"/>
                </a:solidFill>
              </a:rPr>
              <a:t>Supabase Pro (o AWS si hay funding)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404872"/>
            <a:ext cx="5486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2E6DB4"/>
                </a:solidFill>
              </a:rPr>
              <a:t>$300/año (Supabase) · $300–600/año (AWS)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880360"/>
            <a:ext cx="557784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✓  Cuando haya múltiples hospitales (&gt;3)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355848"/>
            <a:ext cx="557784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✓  Si se necesita dashboard en tiempo real avanzado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831335"/>
            <a:ext cx="557784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✓  Si el proyecto obtiene financiamiento formal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306824"/>
            <a:ext cx="557784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✓  App ya construida — solo upgrade + BAA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782312"/>
            <a:ext cx="557784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✓  Independiente de la institución académica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5257800"/>
            <a:ext cx="557784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✓  Plataforma propia, control total de los datos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5733288"/>
            <a:ext cx="557784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✓  2–3 días para implementar desde hoy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RESPOND Guatemala · Registro de Trauma · Confidencial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9728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Próximos pasos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AED6F1"/>
                </a:solidFill>
              </a:rPr>
              <a:t>Camino hacia el lanzamiento del piloto con cumplimiento HIPAA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502920" cy="8686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35607"/>
            <a:ext cx="502920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325880"/>
            <a:ext cx="10881360" cy="86868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71600"/>
            <a:ext cx="4572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Confirmar acceso a REDCap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764792"/>
            <a:ext cx="10607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Preguntar a BU IT si existe proyecto REDCap disponible para Guatemala.</a:t>
            </a:r>
          </a:p>
          <a:p>
            <a:pPr algn="l"/>
            <a:r>
              <a:rPr sz="1100" b="0" i="0">
                <a:solidFill>
                  <a:srgbClr val="2C3E50"/>
                </a:solidFill>
              </a:rPr>
              <a:t>Alternativa: solicitar nuevo proyecto (formulario + aprobación ~1-3 días).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50008"/>
            <a:ext cx="502920" cy="86868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459736"/>
            <a:ext cx="502920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350008"/>
            <a:ext cx="108813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395728"/>
            <a:ext cx="4572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2E6DB4"/>
                </a:solidFill>
              </a:rPr>
              <a:t>IRB / Comité de ética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88920"/>
            <a:ext cx="10607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Someter protocolo de investigación al IRB de BU.</a:t>
            </a:r>
          </a:p>
          <a:p>
            <a:pPr algn="l"/>
            <a:r>
              <a:rPr sz="1100" b="0" i="0">
                <a:solidFill>
                  <a:srgbClr val="2C3E50"/>
                </a:solidFill>
              </a:rPr>
              <a:t>La integración con REDCap facilita la aprobación (es la plataforma estándar de BU).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374136"/>
            <a:ext cx="502920" cy="868680"/>
          </a:xfrm>
          <a:prstGeom prst="rect">
            <a:avLst/>
          </a:prstGeom>
          <a:solidFill>
            <a:srgbClr val="0E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3483864"/>
            <a:ext cx="502920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374136"/>
            <a:ext cx="10881360" cy="86868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419856"/>
            <a:ext cx="4572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E868A"/>
                </a:solidFill>
              </a:rPr>
              <a:t>Integración técnica REDCap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13048"/>
            <a:ext cx="10607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Mapear los 16 pasos del formulario a variables REDCap.</a:t>
            </a:r>
          </a:p>
          <a:p>
            <a:pPr algn="l"/>
            <a:r>
              <a:rPr sz="1100" b="0" i="0">
                <a:solidFill>
                  <a:srgbClr val="2C3E50"/>
                </a:solidFill>
              </a:rPr>
              <a:t>Escribir API route en Next.js para enviar datos (4-8 horas de desarrollo).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398264"/>
            <a:ext cx="502920" cy="86868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507992"/>
            <a:ext cx="502920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398264"/>
            <a:ext cx="108813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443984"/>
            <a:ext cx="4572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E8B4C"/>
                </a:solidFill>
              </a:rPr>
              <a:t>Agregar controles HIPAA técnicos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37176"/>
            <a:ext cx="10607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Session timeout (15 min) · Audit log · MFA para usuarios.</a:t>
            </a:r>
          </a:p>
          <a:p>
            <a:pPr algn="l"/>
            <a:r>
              <a:rPr sz="1100" b="0" i="0">
                <a:solidFill>
                  <a:srgbClr val="2C3E50"/>
                </a:solidFill>
              </a:rPr>
              <a:t>Estimado: 1-2 días de desarrollo, independiente del backend.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422392"/>
            <a:ext cx="502920" cy="8686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5532120"/>
            <a:ext cx="502920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5422392"/>
            <a:ext cx="10881360" cy="86868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468112"/>
            <a:ext cx="4572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67E22"/>
                </a:solidFill>
              </a:rPr>
              <a:t>Hospital piloto + capacitación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861304"/>
            <a:ext cx="10607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Agregar 1 hospital al dropdown · Crear 3-5 cuentas de usuario.</a:t>
            </a:r>
          </a:p>
          <a:p>
            <a:pPr algn="l"/>
            <a:r>
              <a:rPr sz="1100" b="0" i="0">
                <a:solidFill>
                  <a:srgbClr val="2C3E50"/>
                </a:solidFill>
              </a:rPr>
              <a:t>Capacitación del equipo clínico: ~2 horas.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6446520"/>
            <a:ext cx="11640312" cy="1371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RESPOND Guatemala · Registro de Trauma · Confidencial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0"/>
            <a:ext cx="12188952" cy="73152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RESPOND Guatemala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 i="1">
                <a:solidFill>
                  <a:srgbClr val="AED6F1"/>
                </a:solidFill>
              </a:rPr>
              <a:t>Registro Digital de Trauma · Listo para el piloto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10972800" cy="1691640"/>
          </a:xfrm>
          <a:prstGeom prst="rect">
            <a:avLst/>
          </a:prstGeom>
          <a:solidFill>
            <a:srgbClr val="1E4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411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39C12"/>
                </a:solidFill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22576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Plataforma MVP completa y en producción — trauma-registry.vercel.app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411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39C12"/>
                </a:solidFill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24328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Seguridad base implementada: HTTPS, JWT, RLS, cifrado, SOC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07792"/>
            <a:ext cx="411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39C12"/>
                </a:solidFill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92608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Opciones HIPAA identificadas: REDCap ($0) · Supabase Pro ($300/año) · AWS · GCP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09544"/>
            <a:ext cx="411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39C12"/>
                </a:solidFill>
              </a:rPr>
              <a:t>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227832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Recomendación: REDCap institucional para piloto → mínimo costo, máxima credibilidad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11296"/>
            <a:ext cx="411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39C12"/>
                </a:solidFill>
              </a:rPr>
              <a:t>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529584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Tiempo al primer paciente registrado: 2–4 semanas con IRB aprobado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14800"/>
            <a:ext cx="109728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39C12"/>
                </a:solidFill>
              </a:rPr>
              <a:t>¿Preguntas?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54880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1">
                <a:solidFill>
                  <a:srgbClr val="5D8AC4"/>
                </a:solidFill>
              </a:rPr>
              <a:t>trauma-registry.vercel.app/en/patients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532120"/>
            <a:ext cx="12188952" cy="1325880"/>
          </a:xfrm>
          <a:prstGeom prst="rect">
            <a:avLst/>
          </a:prstGeom>
          <a:solidFill>
            <a:srgbClr val="12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989320"/>
            <a:ext cx="11274552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7F8C8D"/>
                </a:solidFill>
              </a:rPr>
              <a:t>RESPOND Guatemala  ·  Registro de Trauma  ·  Confidencial  ·  Marzo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