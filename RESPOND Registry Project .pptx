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0" r:id="rId13"/>
    <p:sldId id="269" r:id="rId14"/>
    <p:sldId id="259" r:id="rId15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650"/>
    <p:restoredTop sz="94681"/>
  </p:normalViewPr>
  <p:slideViewPr>
    <p:cSldViewPr snapToGrid="0" snapToObjects="1">
      <p:cViewPr varScale="1">
        <p:scale>
          <a:sx n="101" d="100"/>
          <a:sy n="101" d="100"/>
        </p:scale>
        <p:origin x="208" y="5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05A103-1E9D-6D46-AADA-4AAC7E79719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B9DCAA-AF15-854B-B70F-CD31E572BB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6622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B9DCAA-AF15-854B-B70F-CD31E572BB8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7073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349240"/>
            <a:ext cx="12188952" cy="1508760"/>
          </a:xfrm>
          <a:prstGeom prst="rect">
            <a:avLst/>
          </a:prstGeom>
          <a:solidFill>
            <a:srgbClr val="12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5303520"/>
            <a:ext cx="12188952" cy="73152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</a:rPr>
              <a:t>RESPOND Guatemala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AED6F1"/>
                </a:solidFill>
              </a:rPr>
              <a:t>Digital Trauma Registry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933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D8AC4"/>
                </a:solidFill>
              </a:rPr>
              <a:t>─────────────────────────────────────────────────────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95728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AED6F1"/>
                </a:solidFill>
              </a:rPr>
              <a:t>Platform Overview  ·  HIPAA Compliance  ·  Backend Options  ·  Scaling Strategy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154680"/>
            <a:ext cx="2560320" cy="1143000"/>
          </a:xfrm>
          <a:prstGeom prst="rect">
            <a:avLst/>
          </a:prstGeom>
          <a:solidFill>
            <a:srgbClr val="1E4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3200400"/>
            <a:ext cx="2560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39C12"/>
                </a:solidFill>
              </a:rPr>
              <a:t>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822191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ED6F1"/>
                </a:solidFill>
              </a:rPr>
              <a:t>form steps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3280" y="3154680"/>
            <a:ext cx="2560320" cy="1143000"/>
          </a:xfrm>
          <a:prstGeom prst="rect">
            <a:avLst/>
          </a:prstGeom>
          <a:solidFill>
            <a:srgbClr val="1E4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383280" y="3200400"/>
            <a:ext cx="2560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39C12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3822191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ED6F1"/>
                </a:solidFill>
              </a:rPr>
              <a:t>languages EN/ES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3154680"/>
            <a:ext cx="2560320" cy="1143000"/>
          </a:xfrm>
          <a:prstGeom prst="rect">
            <a:avLst/>
          </a:prstGeom>
          <a:solidFill>
            <a:srgbClr val="1E4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09360" y="3200400"/>
            <a:ext cx="2560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39C12"/>
                </a:solidFill>
              </a:rPr>
              <a:t>$0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822191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ED6F1"/>
                </a:solidFill>
              </a:rPr>
              <a:t>current cost/mo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35440" y="3154680"/>
            <a:ext cx="2560320" cy="1143000"/>
          </a:xfrm>
          <a:prstGeom prst="rect">
            <a:avLst/>
          </a:prstGeom>
          <a:solidFill>
            <a:srgbClr val="1E4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35440" y="3200400"/>
            <a:ext cx="2560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 dirty="0">
                <a:solidFill>
                  <a:srgbClr val="F39C12"/>
                </a:solidFill>
              </a:rPr>
              <a:t>∞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3822191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ED6F1"/>
                </a:solidFill>
              </a:rPr>
              <a:t>patients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486400"/>
            <a:ext cx="7315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D8AC4"/>
                </a:solidFill>
              </a:rPr>
              <a:t>trauma-registry.vercel.app/en/patients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5486400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7F8C8D"/>
                </a:solidFill>
              </a:rPr>
              <a:t>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27" y="32004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600" b="1" i="0" dirty="0">
                <a:solidFill>
                  <a:srgbClr val="FFFFFF"/>
                </a:solidFill>
              </a:rPr>
              <a:t>Trauma Registry Pilot </a:t>
            </a:r>
            <a:endParaRPr sz="2600" b="1" i="0" dirty="0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74320" y="749808"/>
            <a:ext cx="11430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ED6F1"/>
                </a:solidFill>
              </a:rPr>
              <a:t>A web platform for prospective trauma registry in resource-limited hospitals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14810" y="1380744"/>
            <a:ext cx="5943600" cy="5212080"/>
          </a:xfrm>
          <a:prstGeom prst="rect">
            <a:avLst/>
          </a:prstGeom>
          <a:solidFill>
            <a:srgbClr val="D5F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997690" y="1499616"/>
            <a:ext cx="5577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 dirty="0">
                <a:solidFill>
                  <a:srgbClr val="1E8B4C"/>
                </a:solidFill>
              </a:rPr>
              <a:t>Our Solution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60530" y="2084832"/>
            <a:ext cx="5760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✓  Free web app, accessible from any device with a browser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60530" y="2743200"/>
            <a:ext cx="5760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✓  Works offline (PWA) — syncs when internet returns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60530" y="3401568"/>
            <a:ext cx="5760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✓  16-step form optimized for real clinical workflow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60530" y="4059936"/>
            <a:ext cx="576072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2C3E50"/>
                </a:solidFill>
              </a:rPr>
              <a:t>✓  </a:t>
            </a:r>
            <a:r>
              <a:rPr lang="en-US" sz="1300" b="0" i="0" dirty="0">
                <a:solidFill>
                  <a:srgbClr val="2C3E50"/>
                </a:solidFill>
              </a:rPr>
              <a:t>Automatic calculations</a:t>
            </a:r>
            <a:endParaRPr sz="1300" b="0" i="0" dirty="0">
              <a:solidFill>
                <a:srgbClr val="2C3E5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860530" y="4718304"/>
            <a:ext cx="5760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2C3E50"/>
                </a:solidFill>
              </a:rPr>
              <a:t>✓  Real-time dashboard for the trauma team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60530" y="5376672"/>
            <a:ext cx="576072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2C3E50"/>
                </a:solidFill>
              </a:rPr>
              <a:t>✓  Bilingual English/Spanish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60530" y="6035040"/>
            <a:ext cx="5760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✓  Current operating cost: $0/month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Platform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49808"/>
            <a:ext cx="11430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ED6F1"/>
                </a:solidFill>
              </a:rPr>
              <a:t>Current MVP — all modules live at trauma-registry.vercel.app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1810512" cy="1719072"/>
          </a:xfrm>
          <a:prstGeom prst="rect">
            <a:avLst/>
          </a:prstGeom>
          <a:solidFill>
            <a:srgbClr val="EBF5FB"/>
          </a:solidFill>
          <a:ln w="12700">
            <a:solidFill>
              <a:srgbClr val="2E6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1463040"/>
            <a:ext cx="181051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C3E50"/>
                </a:solidFill>
              </a:rPr>
              <a:t>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240280"/>
            <a:ext cx="181051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6B"/>
                </a:solidFill>
              </a:rPr>
              <a:t>16-Step</a:t>
            </a:r>
          </a:p>
          <a:p>
            <a:pPr algn="ctr"/>
            <a:r>
              <a:rPr sz="1300" b="1" i="0">
                <a:solidFill>
                  <a:srgbClr val="1B3A6B"/>
                </a:solidFill>
              </a:rPr>
              <a:t>Clinical Form</a:t>
            </a:r>
          </a:p>
        </p:txBody>
      </p:sp>
      <p:sp>
        <p:nvSpPr>
          <p:cNvPr id="9" name="Rectangle 8"/>
          <p:cNvSpPr/>
          <p:nvPr/>
        </p:nvSpPr>
        <p:spPr>
          <a:xfrm>
            <a:off x="2249424" y="1371600"/>
            <a:ext cx="1810512" cy="1719072"/>
          </a:xfrm>
          <a:prstGeom prst="rect">
            <a:avLst/>
          </a:prstGeom>
          <a:solidFill>
            <a:srgbClr val="D5F5E3"/>
          </a:solidFill>
          <a:ln w="12700">
            <a:solidFill>
              <a:srgbClr val="2E6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49424" y="1463040"/>
            <a:ext cx="181051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C3E50"/>
                </a:solidFill>
              </a:rPr>
              <a:t>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9424" y="2240280"/>
            <a:ext cx="181051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6B"/>
                </a:solidFill>
              </a:rPr>
              <a:t>Automatic</a:t>
            </a:r>
          </a:p>
          <a:p>
            <a:pPr algn="ctr"/>
            <a:r>
              <a:rPr sz="1300" b="1" i="0">
                <a:solidFill>
                  <a:srgbClr val="1B3A6B"/>
                </a:solidFill>
              </a:rPr>
              <a:t>GCS Calculator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24528" y="1371600"/>
            <a:ext cx="1810512" cy="1719072"/>
          </a:xfrm>
          <a:prstGeom prst="rect">
            <a:avLst/>
          </a:prstGeom>
          <a:solidFill>
            <a:srgbClr val="EBF5FB"/>
          </a:solidFill>
          <a:ln w="12700">
            <a:solidFill>
              <a:srgbClr val="2E6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24528" y="1463040"/>
            <a:ext cx="181051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C3E50"/>
                </a:solidFill>
              </a:rPr>
              <a:t>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24528" y="2240280"/>
            <a:ext cx="181051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6B"/>
                </a:solidFill>
              </a:rPr>
              <a:t>Auto ISS</a:t>
            </a:r>
          </a:p>
          <a:p>
            <a:pPr algn="ctr"/>
            <a:r>
              <a:rPr sz="1300" b="1" i="0">
                <a:solidFill>
                  <a:srgbClr val="1B3A6B"/>
                </a:solidFill>
              </a:rPr>
              <a:t>Score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9632" y="1371600"/>
            <a:ext cx="1810512" cy="1719072"/>
          </a:xfrm>
          <a:prstGeom prst="rect">
            <a:avLst/>
          </a:prstGeom>
          <a:solidFill>
            <a:srgbClr val="D5F5E3"/>
          </a:solidFill>
          <a:ln w="12700">
            <a:solidFill>
              <a:srgbClr val="2E6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99632" y="1463040"/>
            <a:ext cx="181051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C3E50"/>
                </a:solidFill>
              </a:rPr>
              <a:t>🗺️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99632" y="2240280"/>
            <a:ext cx="181051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6B"/>
                </a:solidFill>
              </a:rPr>
              <a:t>Interactive</a:t>
            </a:r>
          </a:p>
          <a:p>
            <a:pPr algn="ctr"/>
            <a:r>
              <a:rPr sz="1300" b="1" i="0">
                <a:solidFill>
                  <a:srgbClr val="1B3A6B"/>
                </a:solidFill>
              </a:rPr>
              <a:t>Body Map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74736" y="1371600"/>
            <a:ext cx="1810512" cy="1719072"/>
          </a:xfrm>
          <a:prstGeom prst="rect">
            <a:avLst/>
          </a:prstGeom>
          <a:solidFill>
            <a:srgbClr val="EBF5FB"/>
          </a:solidFill>
          <a:ln w="12700">
            <a:solidFill>
              <a:srgbClr val="2E6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74736" y="1463040"/>
            <a:ext cx="181051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C3E50"/>
                </a:solidFill>
              </a:rPr>
              <a:t>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74736" y="2240280"/>
            <a:ext cx="181051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6B"/>
                </a:solidFill>
              </a:rPr>
              <a:t>Real-Time</a:t>
            </a:r>
          </a:p>
          <a:p>
            <a:pPr algn="ctr"/>
            <a:r>
              <a:rPr sz="1300" b="1" i="0">
                <a:solidFill>
                  <a:srgbClr val="1B3A6B"/>
                </a:solidFill>
              </a:rPr>
              <a:t>Dashboard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149840" y="1371600"/>
            <a:ext cx="1810512" cy="1719072"/>
          </a:xfrm>
          <a:prstGeom prst="rect">
            <a:avLst/>
          </a:prstGeom>
          <a:solidFill>
            <a:srgbClr val="D5F5E3"/>
          </a:solidFill>
          <a:ln w="12700">
            <a:solidFill>
              <a:srgbClr val="2E6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149840" y="1463040"/>
            <a:ext cx="181051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C3E50"/>
                </a:solidFill>
              </a:rPr>
              <a:t>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49840" y="2240280"/>
            <a:ext cx="181051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6B"/>
                </a:solidFill>
              </a:rPr>
              <a:t>Excel</a:t>
            </a:r>
          </a:p>
          <a:p>
            <a:pPr algn="ctr"/>
            <a:r>
              <a:rPr sz="1300" b="1" i="0">
                <a:solidFill>
                  <a:srgbClr val="1B3A6B"/>
                </a:solidFill>
              </a:rPr>
              <a:t>Export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291840"/>
            <a:ext cx="1810512" cy="1719072"/>
          </a:xfrm>
          <a:prstGeom prst="rect">
            <a:avLst/>
          </a:prstGeom>
          <a:solidFill>
            <a:srgbClr val="EBF5FB"/>
          </a:solidFill>
          <a:ln w="12700">
            <a:solidFill>
              <a:srgbClr val="2E6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74320" y="3383280"/>
            <a:ext cx="181051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C3E50"/>
                </a:solidFill>
              </a:rPr>
              <a:t>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4160520"/>
            <a:ext cx="181051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6B"/>
                </a:solidFill>
              </a:rPr>
              <a:t>Offline Mode</a:t>
            </a:r>
          </a:p>
          <a:p>
            <a:pPr algn="ctr"/>
            <a:r>
              <a:rPr sz="1300" b="1" i="0">
                <a:solidFill>
                  <a:srgbClr val="1B3A6B"/>
                </a:solidFill>
              </a:rPr>
              <a:t>(PWA)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49424" y="3291840"/>
            <a:ext cx="1810512" cy="1719072"/>
          </a:xfrm>
          <a:prstGeom prst="rect">
            <a:avLst/>
          </a:prstGeom>
          <a:solidFill>
            <a:srgbClr val="D5F5E3"/>
          </a:solidFill>
          <a:ln w="12700">
            <a:solidFill>
              <a:srgbClr val="2E6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249424" y="3383280"/>
            <a:ext cx="181051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C3E50"/>
                </a:solidFill>
              </a:rPr>
              <a:t>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49424" y="4160520"/>
            <a:ext cx="181051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6B"/>
                </a:solidFill>
              </a:rPr>
              <a:t>Bilingual</a:t>
            </a:r>
          </a:p>
          <a:p>
            <a:pPr algn="ctr"/>
            <a:r>
              <a:rPr sz="1300" b="1" i="0">
                <a:solidFill>
                  <a:srgbClr val="1B3A6B"/>
                </a:solidFill>
              </a:rPr>
              <a:t>EN / 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24528" y="3291840"/>
            <a:ext cx="1810512" cy="1719072"/>
          </a:xfrm>
          <a:prstGeom prst="rect">
            <a:avLst/>
          </a:prstGeom>
          <a:solidFill>
            <a:srgbClr val="EBF5FB"/>
          </a:solidFill>
          <a:ln w="12700">
            <a:solidFill>
              <a:srgbClr val="2E6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224528" y="3383280"/>
            <a:ext cx="181051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C3E50"/>
                </a:solidFill>
              </a:rPr>
              <a:t>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24528" y="4160520"/>
            <a:ext cx="181051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6B"/>
                </a:solidFill>
              </a:rPr>
              <a:t>Role-Based</a:t>
            </a:r>
          </a:p>
          <a:p>
            <a:pPr algn="ctr"/>
            <a:r>
              <a:rPr sz="1300" b="1" i="0">
                <a:solidFill>
                  <a:srgbClr val="1B3A6B"/>
                </a:solidFill>
              </a:rPr>
              <a:t>Auth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99632" y="3291840"/>
            <a:ext cx="1810512" cy="1719072"/>
          </a:xfrm>
          <a:prstGeom prst="rect">
            <a:avLst/>
          </a:prstGeom>
          <a:solidFill>
            <a:srgbClr val="D5F5E3"/>
          </a:solidFill>
          <a:ln w="12700">
            <a:solidFill>
              <a:srgbClr val="2E6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199632" y="3383280"/>
            <a:ext cx="181051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C3E50"/>
                </a:solidFill>
              </a:rPr>
              <a:t>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99632" y="4160520"/>
            <a:ext cx="181051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6B"/>
                </a:solidFill>
              </a:rPr>
              <a:t>Multi-Hospital</a:t>
            </a:r>
          </a:p>
          <a:p>
            <a:pPr algn="ctr"/>
            <a:r>
              <a:rPr sz="1300" b="1" i="0">
                <a:solidFill>
                  <a:srgbClr val="1B3A6B"/>
                </a:solidFill>
              </a:rPr>
              <a:t>Ready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74736" y="3291840"/>
            <a:ext cx="1810512" cy="1719072"/>
          </a:xfrm>
          <a:prstGeom prst="rect">
            <a:avLst/>
          </a:prstGeom>
          <a:solidFill>
            <a:srgbClr val="EBF5FB"/>
          </a:solidFill>
          <a:ln w="12700">
            <a:solidFill>
              <a:srgbClr val="2E6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174736" y="3383280"/>
            <a:ext cx="181051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C3E50"/>
                </a:solidFill>
              </a:rPr>
              <a:t>📱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74736" y="4160520"/>
            <a:ext cx="181051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6B"/>
                </a:solidFill>
              </a:rPr>
              <a:t>Mobile</a:t>
            </a:r>
          </a:p>
          <a:p>
            <a:pPr algn="ctr"/>
            <a:r>
              <a:rPr sz="1300" b="1" i="0">
                <a:solidFill>
                  <a:srgbClr val="1B3A6B"/>
                </a:solidFill>
              </a:rPr>
              <a:t>Friendly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149840" y="3291840"/>
            <a:ext cx="1810512" cy="1719072"/>
          </a:xfrm>
          <a:prstGeom prst="rect">
            <a:avLst/>
          </a:prstGeom>
          <a:solidFill>
            <a:srgbClr val="D5F5E3"/>
          </a:solidFill>
          <a:ln w="12700">
            <a:solidFill>
              <a:srgbClr val="2E6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0149840" y="3383280"/>
            <a:ext cx="181051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C3E50"/>
                </a:solidFill>
              </a:rPr>
              <a:t>🔄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49840" y="4160520"/>
            <a:ext cx="181051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6B"/>
                </a:solidFill>
              </a:rPr>
              <a:t>Auto</a:t>
            </a:r>
          </a:p>
          <a:p>
            <a:pPr algn="ctr"/>
            <a:r>
              <a:rPr sz="1300" b="1" i="0">
                <a:solidFill>
                  <a:srgbClr val="1B3A6B"/>
                </a:solidFill>
              </a:rPr>
              <a:t>Sync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Why Do We Need HIPAA Compliance?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49808"/>
            <a:ext cx="11430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ED6F1"/>
                </a:solidFill>
              </a:rPr>
              <a:t>Required by mentors — standard for US-affiliated clinical research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25880"/>
            <a:ext cx="3749039" cy="521208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444752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0392B"/>
                </a:solidFill>
              </a:rPr>
              <a:t>⚖️  What is HIPAA?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993392"/>
            <a:ext cx="3401568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Health Insurance Portability</a:t>
            </a:r>
          </a:p>
          <a:p>
            <a:pPr algn="l"/>
            <a:r>
              <a:rPr sz="1300" b="0" i="0">
                <a:solidFill>
                  <a:srgbClr val="2C3E50"/>
                </a:solidFill>
              </a:rPr>
              <a:t>and Accountability Act</a:t>
            </a:r>
          </a:p>
          <a:p>
            <a:pPr algn="l"/>
            <a:r>
              <a:rPr sz="1300" b="0" i="0">
                <a:solidFill>
                  <a:srgbClr val="2C3E50"/>
                </a:solidFill>
              </a:rPr>
              <a:t>(US federal law, 1996)</a:t>
            </a:r>
          </a:p>
          <a:p>
            <a:pPr algn="l"/>
            <a:endParaRPr sz="1300" b="0" i="0">
              <a:solidFill>
                <a:srgbClr val="2C3E50"/>
              </a:solidFill>
            </a:endParaRPr>
          </a:p>
          <a:p>
            <a:pPr algn="l"/>
            <a:r>
              <a:rPr sz="1300" b="0" i="0">
                <a:solidFill>
                  <a:srgbClr val="2C3E50"/>
                </a:solidFill>
              </a:rPr>
              <a:t>Protects identifiable patient</a:t>
            </a:r>
          </a:p>
          <a:p>
            <a:pPr algn="l"/>
            <a:r>
              <a:rPr sz="1300" b="0" i="0">
                <a:solidFill>
                  <a:srgbClr val="2C3E50"/>
                </a:solidFill>
              </a:rPr>
              <a:t>medical information</a:t>
            </a:r>
          </a:p>
          <a:p>
            <a:pPr algn="l"/>
            <a:r>
              <a:rPr sz="1300" b="0" i="0">
                <a:solidFill>
                  <a:srgbClr val="2C3E50"/>
                </a:solidFill>
              </a:rPr>
              <a:t>(PHI — Protected Health</a:t>
            </a:r>
          </a:p>
          <a:p>
            <a:pPr algn="l"/>
            <a:r>
              <a:rPr sz="1300" b="0" i="0">
                <a:solidFill>
                  <a:srgbClr val="2C3E50"/>
                </a:solidFill>
              </a:rPr>
              <a:t>Information)</a:t>
            </a:r>
          </a:p>
          <a:p>
            <a:pPr algn="l"/>
            <a:endParaRPr sz="1300" b="0" i="0">
              <a:solidFill>
                <a:srgbClr val="2C3E50"/>
              </a:solidFill>
            </a:endParaRPr>
          </a:p>
          <a:p>
            <a:pPr algn="l"/>
            <a:r>
              <a:rPr sz="1300" b="0" i="0">
                <a:solidFill>
                  <a:srgbClr val="2C3E50"/>
                </a:solidFill>
              </a:rPr>
              <a:t>Requires:</a:t>
            </a:r>
          </a:p>
          <a:p>
            <a:pPr algn="l"/>
            <a:r>
              <a:rPr sz="1300" b="0" i="0">
                <a:solidFill>
                  <a:srgbClr val="2C3E50"/>
                </a:solidFill>
              </a:rPr>
              <a:t>• Confidentiality</a:t>
            </a:r>
          </a:p>
          <a:p>
            <a:pPr algn="l"/>
            <a:r>
              <a:rPr sz="1300" b="0" i="0">
                <a:solidFill>
                  <a:srgbClr val="2C3E50"/>
                </a:solidFill>
              </a:rPr>
              <a:t>• Integrity</a:t>
            </a:r>
          </a:p>
          <a:p>
            <a:pPr algn="l"/>
            <a:r>
              <a:rPr sz="1300" b="0" i="0">
                <a:solidFill>
                  <a:srgbClr val="2C3E50"/>
                </a:solidFill>
              </a:rPr>
              <a:t>• Availability</a:t>
            </a:r>
          </a:p>
          <a:p>
            <a:pPr algn="l"/>
            <a:r>
              <a:rPr sz="1300" b="0" i="0">
                <a:solidFill>
                  <a:srgbClr val="2C3E50"/>
                </a:solidFill>
              </a:rPr>
              <a:t>of all patient data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60" y="1325880"/>
            <a:ext cx="3657600" cy="5212080"/>
          </a:xfrm>
          <a:prstGeom prst="rect">
            <a:avLst/>
          </a:prstGeom>
          <a:solidFill>
            <a:srgbClr val="FEF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34840" y="1444752"/>
            <a:ext cx="33832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67E22"/>
                </a:solidFill>
              </a:rPr>
              <a:t>🌎  Does it Apply
     in Guatemala?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2286000"/>
            <a:ext cx="3401568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2C3E50"/>
                </a:solidFill>
              </a:rPr>
              <a:t>Technically NO </a:t>
            </a:r>
          </a:p>
          <a:p>
            <a:pPr algn="l"/>
            <a:r>
              <a:rPr sz="1300" b="0" i="0" dirty="0">
                <a:solidFill>
                  <a:srgbClr val="2C3E50"/>
                </a:solidFill>
              </a:rPr>
              <a:t>HIPAA is US law.</a:t>
            </a:r>
          </a:p>
          <a:p>
            <a:pPr algn="l"/>
            <a:endParaRPr sz="1300" b="0" i="0" dirty="0">
              <a:solidFill>
                <a:srgbClr val="2C3E50"/>
              </a:solidFill>
            </a:endParaRPr>
          </a:p>
          <a:p>
            <a:pPr algn="l"/>
            <a:r>
              <a:rPr sz="1300" b="0" i="0" dirty="0">
                <a:solidFill>
                  <a:srgbClr val="2C3E50"/>
                </a:solidFill>
              </a:rPr>
              <a:t>BUT it applies when:</a:t>
            </a:r>
          </a:p>
          <a:p>
            <a:pPr algn="l"/>
            <a:endParaRPr sz="1300" b="0" i="0" dirty="0">
              <a:solidFill>
                <a:srgbClr val="2C3E50"/>
              </a:solidFill>
            </a:endParaRPr>
          </a:p>
          <a:p>
            <a:pPr algn="l"/>
            <a:r>
              <a:rPr sz="1300" b="0" i="0" dirty="0">
                <a:solidFill>
                  <a:srgbClr val="2C3E50"/>
                </a:solidFill>
              </a:rPr>
              <a:t>• </a:t>
            </a:r>
            <a:r>
              <a:rPr lang="en-US" sz="1300" dirty="0">
                <a:solidFill>
                  <a:srgbClr val="2C3E50"/>
                </a:solidFill>
              </a:rPr>
              <a:t>Part of the team</a:t>
            </a:r>
            <a:r>
              <a:rPr sz="1300" b="0" i="0" dirty="0">
                <a:solidFill>
                  <a:srgbClr val="2C3E50"/>
                </a:solidFill>
              </a:rPr>
              <a:t> are at a US</a:t>
            </a:r>
          </a:p>
          <a:p>
            <a:pPr algn="l"/>
            <a:r>
              <a:rPr sz="1300" b="0" i="0" dirty="0">
                <a:solidFill>
                  <a:srgbClr val="2C3E50"/>
                </a:solidFill>
              </a:rPr>
              <a:t>  institution </a:t>
            </a:r>
          </a:p>
          <a:p>
            <a:pPr algn="l"/>
            <a:endParaRPr sz="1300" b="0" i="0" dirty="0">
              <a:solidFill>
                <a:srgbClr val="2C3E50"/>
              </a:solidFill>
            </a:endParaRPr>
          </a:p>
          <a:p>
            <a:pPr algn="l"/>
            <a:r>
              <a:rPr sz="1300" b="0" i="0" dirty="0">
                <a:solidFill>
                  <a:srgbClr val="2C3E50"/>
                </a:solidFill>
              </a:rPr>
              <a:t>• Funding is from NIH</a:t>
            </a:r>
          </a:p>
          <a:p>
            <a:pPr algn="l"/>
            <a:r>
              <a:rPr sz="1300" b="0" i="0" dirty="0">
                <a:solidFill>
                  <a:srgbClr val="2C3E50"/>
                </a:solidFill>
              </a:rPr>
              <a:t>  or US sources</a:t>
            </a:r>
          </a:p>
          <a:p>
            <a:pPr algn="l"/>
            <a:endParaRPr sz="1300" b="0" i="0" dirty="0">
              <a:solidFill>
                <a:srgbClr val="2C3E50"/>
              </a:solidFill>
            </a:endParaRPr>
          </a:p>
          <a:p>
            <a:pPr algn="l"/>
            <a:r>
              <a:rPr sz="1300" b="0" i="0" dirty="0">
                <a:solidFill>
                  <a:srgbClr val="2C3E50"/>
                </a:solidFill>
              </a:rPr>
              <a:t>• Data will be published</a:t>
            </a:r>
          </a:p>
          <a:p>
            <a:pPr algn="l"/>
            <a:r>
              <a:rPr sz="1300" b="0" i="0" dirty="0">
                <a:solidFill>
                  <a:srgbClr val="2C3E50"/>
                </a:solidFill>
              </a:rPr>
              <a:t>  in journals requiring</a:t>
            </a:r>
          </a:p>
          <a:p>
            <a:pPr algn="l"/>
            <a:r>
              <a:rPr sz="1300" b="0" i="0" dirty="0">
                <a:solidFill>
                  <a:srgbClr val="2C3E50"/>
                </a:solidFill>
              </a:rPr>
              <a:t>  international standards</a:t>
            </a:r>
          </a:p>
          <a:p>
            <a:pPr algn="l"/>
            <a:endParaRPr sz="1300" b="0" i="0" dirty="0">
              <a:solidFill>
                <a:srgbClr val="2C3E50"/>
              </a:solidFill>
            </a:endParaRPr>
          </a:p>
          <a:p>
            <a:pPr algn="l"/>
            <a:r>
              <a:rPr sz="1300" b="0" i="0" dirty="0">
                <a:solidFill>
                  <a:srgbClr val="2C3E50"/>
                </a:solidFill>
              </a:rPr>
              <a:t>→ HIPAA compliance is</a:t>
            </a:r>
          </a:p>
          <a:p>
            <a:pPr algn="l"/>
            <a:r>
              <a:rPr sz="1300" b="0" i="0" dirty="0">
                <a:solidFill>
                  <a:srgbClr val="2C3E50"/>
                </a:solidFill>
              </a:rPr>
              <a:t>  the gold standard for</a:t>
            </a:r>
          </a:p>
          <a:p>
            <a:pPr algn="l"/>
            <a:r>
              <a:rPr sz="1300" b="0" i="0" dirty="0">
                <a:solidFill>
                  <a:srgbClr val="2C3E50"/>
                </a:solidFill>
              </a:rPr>
              <a:t>  serious clinical research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1325880"/>
            <a:ext cx="3749039" cy="521208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21040" y="1444752"/>
            <a:ext cx="33832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3A6B"/>
                </a:solidFill>
              </a:rPr>
              <a:t>📋  What PHI Does
      It Protect?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286000"/>
            <a:ext cx="34015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▸  Patient name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761488"/>
            <a:ext cx="34015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▸  Date of birth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3236976"/>
            <a:ext cx="34015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▸  Medical record number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712464"/>
            <a:ext cx="34015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▸  Admission / discharge 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4187952"/>
            <a:ext cx="34015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▸  Diagnosis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4663440"/>
            <a:ext cx="34015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▸  Clinical results (GCS, ISS)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5138928"/>
            <a:ext cx="34015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▸  Procedures performed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5614416"/>
            <a:ext cx="34015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▸  Discharge condition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6089904"/>
            <a:ext cx="34015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▸  Any data that can</a:t>
            </a:r>
          </a:p>
          <a:p>
            <a:pPr algn="l"/>
            <a:r>
              <a:rPr sz="1300" b="0" i="0">
                <a:solidFill>
                  <a:srgbClr val="2C3E50"/>
                </a:solidFill>
              </a:rPr>
              <a:t>identify the patient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27" y="32004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 dirty="0">
                <a:solidFill>
                  <a:srgbClr val="FFFFFF"/>
                </a:solidFill>
              </a:rPr>
              <a:t>Option 1: </a:t>
            </a:r>
            <a:r>
              <a:rPr sz="2600" b="1" i="0" dirty="0" err="1">
                <a:solidFill>
                  <a:srgbClr val="FFFFFF"/>
                </a:solidFill>
              </a:rPr>
              <a:t>REDCap</a:t>
            </a:r>
            <a:r>
              <a:rPr sz="2600" b="1" i="0" dirty="0">
                <a:solidFill>
                  <a:srgbClr val="FFFFFF"/>
                </a:solidFill>
              </a:rPr>
              <a:t> Integration 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49808"/>
            <a:ext cx="11430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ED6F1"/>
                </a:solidFill>
              </a:rPr>
              <a:t>The app on Vercel sends data directly to the institutional REDCap server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371600"/>
            <a:ext cx="11640312" cy="201168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43560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3A6B"/>
                </a:solidFill>
              </a:rPr>
              <a:t>Data Flow with REDCap: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828800"/>
            <a:ext cx="1645920" cy="13716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1938528"/>
            <a:ext cx="16459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FFFFFF"/>
                </a:solidFill>
              </a:rPr>
              <a:t>👤</a:t>
            </a:r>
          </a:p>
          <a:p>
            <a:pPr algn="ctr"/>
            <a:r>
              <a:rPr lang="en-US" sz="1200" b="1" dirty="0">
                <a:solidFill>
                  <a:srgbClr val="FFFFFF"/>
                </a:solidFill>
              </a:rPr>
              <a:t>Registrar</a:t>
            </a:r>
            <a:endParaRPr sz="1200" b="1" i="0" dirty="0">
              <a:solidFill>
                <a:srgbClr val="FFFFFF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331720" y="1828800"/>
            <a:ext cx="1737360" cy="1371600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331720" y="1938528"/>
            <a:ext cx="173736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FFFFFF"/>
                </a:solidFill>
              </a:rPr>
              <a:t>📱</a:t>
            </a:r>
          </a:p>
          <a:p>
            <a:pPr algn="ctr"/>
            <a:r>
              <a:rPr sz="1200" b="1" i="0" dirty="0">
                <a:solidFill>
                  <a:srgbClr val="FFFFFF"/>
                </a:solidFill>
              </a:rPr>
              <a:t>RESPOND App</a:t>
            </a:r>
          </a:p>
          <a:p>
            <a:pPr algn="ctr"/>
            <a:r>
              <a:rPr sz="1200" b="1" i="0" dirty="0">
                <a:solidFill>
                  <a:srgbClr val="FFFFFF"/>
                </a:solidFill>
              </a:rPr>
              <a:t>(</a:t>
            </a:r>
            <a:r>
              <a:rPr sz="1200" b="1" i="0" dirty="0" err="1">
                <a:solidFill>
                  <a:srgbClr val="FFFFFF"/>
                </a:solidFill>
              </a:rPr>
              <a:t>Vercel</a:t>
            </a:r>
            <a:r>
              <a:rPr sz="1200" b="1" i="0" dirty="0">
                <a:solidFill>
                  <a:srgbClr val="FFFFFF"/>
                </a:solidFill>
              </a:rPr>
              <a:t>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43400" y="1828800"/>
            <a:ext cx="1645920" cy="1371600"/>
          </a:xfrm>
          <a:prstGeom prst="rect">
            <a:avLst/>
          </a:prstGeom>
          <a:solidFill>
            <a:srgbClr val="5D6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43400" y="1938528"/>
            <a:ext cx="164592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🔀</a:t>
            </a:r>
          </a:p>
          <a:p>
            <a:pPr algn="ctr"/>
            <a:r>
              <a:rPr sz="1200" b="1" i="0">
                <a:solidFill>
                  <a:srgbClr val="FFFFFF"/>
                </a:solidFill>
              </a:rPr>
              <a:t>Next.js</a:t>
            </a:r>
          </a:p>
          <a:p>
            <a:pPr algn="ctr"/>
            <a:r>
              <a:rPr sz="1200" b="1" i="0">
                <a:solidFill>
                  <a:srgbClr val="FFFFFF"/>
                </a:solidFill>
              </a:rPr>
              <a:t>API Route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1828800"/>
            <a:ext cx="1828800" cy="1371600"/>
          </a:xfrm>
          <a:prstGeom prst="rect">
            <a:avLst/>
          </a:prstGeom>
          <a:solidFill>
            <a:srgbClr val="0E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63640" y="1938528"/>
            <a:ext cx="182880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🏛️</a:t>
            </a:r>
          </a:p>
          <a:p>
            <a:pPr algn="ctr"/>
            <a:r>
              <a:rPr sz="1200" b="1" i="0">
                <a:solidFill>
                  <a:srgbClr val="FFFFFF"/>
                </a:solidFill>
              </a:rPr>
              <a:t>REDCap API</a:t>
            </a:r>
          </a:p>
          <a:p>
            <a:pPr algn="ctr"/>
            <a:r>
              <a:rPr sz="1200" b="1" i="0">
                <a:solidFill>
                  <a:srgbClr val="FFFFFF"/>
                </a:solidFill>
              </a:rPr>
              <a:t>(institutional)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66760" y="1828800"/>
            <a:ext cx="1920240" cy="1371600"/>
          </a:xfrm>
          <a:prstGeom prst="rect">
            <a:avLst/>
          </a:prstGeom>
          <a:solidFill>
            <a:srgbClr val="0E5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66760" y="1938528"/>
            <a:ext cx="19202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FFFFFF"/>
                </a:solidFill>
              </a:rPr>
              <a:t>🗄️</a:t>
            </a:r>
          </a:p>
          <a:p>
            <a:pPr algn="ctr"/>
            <a:r>
              <a:rPr sz="1200" b="1" i="0" dirty="0" err="1">
                <a:solidFill>
                  <a:srgbClr val="FFFFFF"/>
                </a:solidFill>
              </a:rPr>
              <a:t>REDCap</a:t>
            </a:r>
            <a:r>
              <a:rPr sz="1200" b="1" i="0" dirty="0">
                <a:solidFill>
                  <a:srgbClr val="FFFFFF"/>
                </a:solidFill>
              </a:rPr>
              <a:t> Server</a:t>
            </a:r>
          </a:p>
          <a:p>
            <a:pPr algn="ctr"/>
            <a:r>
              <a:rPr sz="1200" b="1" i="0" dirty="0">
                <a:solidFill>
                  <a:srgbClr val="FFFFFF"/>
                </a:solidFill>
              </a:rPr>
              <a:t>Institution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561320" y="1828800"/>
            <a:ext cx="1417320" cy="137160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561320" y="1938528"/>
            <a:ext cx="141732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FFFFFF"/>
                </a:solidFill>
              </a:rPr>
              <a:t>🔒</a:t>
            </a:r>
          </a:p>
          <a:p>
            <a:pPr algn="ctr"/>
            <a:r>
              <a:rPr sz="1200" b="1" i="0" dirty="0">
                <a:solidFill>
                  <a:srgbClr val="FFFFFF"/>
                </a:solidFill>
              </a:rPr>
              <a:t>HIPAA</a:t>
            </a:r>
          </a:p>
          <a:p>
            <a:pPr algn="ctr"/>
            <a:r>
              <a:rPr sz="1200" b="1" i="0" dirty="0">
                <a:solidFill>
                  <a:srgbClr val="FFFFFF"/>
                </a:solidFill>
              </a:rPr>
              <a:t>Covered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61515" y="2368296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2E6DB4"/>
                </a:solidFill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00499" y="2350008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2E6DB4"/>
                </a:solidFill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27206" y="2359152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2E6DB4"/>
                </a:solidFill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01000" y="2336292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2E6DB4"/>
                </a:solidFill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153" y="2368296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2E6DB4"/>
                </a:solidFill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566160"/>
            <a:ext cx="5577840" cy="2971800"/>
          </a:xfrm>
          <a:prstGeom prst="rect">
            <a:avLst/>
          </a:prstGeom>
          <a:solidFill>
            <a:srgbClr val="D5F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7200" y="3675887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8B4C"/>
                </a:solidFill>
              </a:rPr>
              <a:t>✅  Advantages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420624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8B4C"/>
                </a:solidFill>
              </a:rPr>
              <a:t>💰 Cost: $0/year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95728" y="4224528"/>
            <a:ext cx="3383280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 dirty="0">
                <a:solidFill>
                  <a:srgbClr val="2C3E50"/>
                </a:solidFill>
              </a:rPr>
              <a:t>If institution already has </a:t>
            </a:r>
            <a:r>
              <a:rPr sz="1250" b="0" i="0" dirty="0" err="1">
                <a:solidFill>
                  <a:srgbClr val="2C3E50"/>
                </a:solidFill>
              </a:rPr>
              <a:t>REDCap</a:t>
            </a:r>
            <a:r>
              <a:rPr sz="1250" b="0" i="0" dirty="0">
                <a:solidFill>
                  <a:srgbClr val="2C3E50"/>
                </a:solidFill>
              </a:rPr>
              <a:t>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4681727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8B4C"/>
                </a:solidFill>
              </a:rPr>
              <a:t>🔒 HIPAA covered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95728" y="4700016"/>
            <a:ext cx="3383280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 dirty="0">
                <a:solidFill>
                  <a:srgbClr val="2C3E50"/>
                </a:solidFill>
              </a:rPr>
              <a:t>Institution</a:t>
            </a:r>
            <a:r>
              <a:rPr lang="en-US" sz="1250" b="0" i="0" dirty="0">
                <a:solidFill>
                  <a:srgbClr val="2C3E50"/>
                </a:solidFill>
              </a:rPr>
              <a:t> contract with </a:t>
            </a:r>
            <a:r>
              <a:rPr lang="en-US" sz="1250" b="0" i="0" dirty="0" err="1">
                <a:solidFill>
                  <a:srgbClr val="2C3E50"/>
                </a:solidFill>
              </a:rPr>
              <a:t>REDCap</a:t>
            </a:r>
            <a:endParaRPr sz="1250" b="0" i="0" dirty="0">
              <a:solidFill>
                <a:srgbClr val="2C3E50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11480" y="5157216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8B4C"/>
                </a:solidFill>
              </a:rPr>
              <a:t>📊 Native exports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95728" y="5175504"/>
            <a:ext cx="3383280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 dirty="0">
                <a:solidFill>
                  <a:srgbClr val="2C3E50"/>
                </a:solidFill>
              </a:rPr>
              <a:t>SPSS, Stata, R, Excel, CSV  built into </a:t>
            </a:r>
            <a:r>
              <a:rPr sz="1250" b="0" i="0" dirty="0" err="1">
                <a:solidFill>
                  <a:srgbClr val="2C3E50"/>
                </a:solidFill>
              </a:rPr>
              <a:t>REDCap</a:t>
            </a:r>
            <a:endParaRPr sz="1250" b="0" i="0" dirty="0">
              <a:solidFill>
                <a:srgbClr val="2C3E50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11480" y="5632704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8B4C"/>
                </a:solidFill>
              </a:rPr>
              <a:t>🎓 Research standard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95728" y="5650992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 dirty="0">
                <a:solidFill>
                  <a:srgbClr val="2C3E50"/>
                </a:solidFill>
              </a:rPr>
              <a:t>6,000+ institutions worldwide use </a:t>
            </a:r>
            <a:r>
              <a:rPr sz="1250" b="0" i="0" dirty="0" err="1">
                <a:solidFill>
                  <a:srgbClr val="2C3E50"/>
                </a:solidFill>
              </a:rPr>
              <a:t>REDCap</a:t>
            </a:r>
            <a:endParaRPr sz="1250" b="0" i="0" dirty="0">
              <a:solidFill>
                <a:srgbClr val="2C3E50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11480" y="6108192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8B4C"/>
                </a:solidFill>
              </a:rPr>
              <a:t>🚀 No BAA to sign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395728" y="612648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 dirty="0">
                <a:solidFill>
                  <a:srgbClr val="2C3E50"/>
                </a:solidFill>
              </a:rPr>
              <a:t>Institution IT department manages it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26480" y="3566160"/>
            <a:ext cx="5760720" cy="2971800"/>
          </a:xfrm>
          <a:prstGeom prst="rect">
            <a:avLst/>
          </a:prstGeom>
          <a:solidFill>
            <a:srgbClr val="FEF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309360" y="3675887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67E22"/>
                </a:solidFill>
              </a:rPr>
              <a:t>⚠️  Considerations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0" y="420624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7E22"/>
                </a:solidFill>
              </a:rPr>
              <a:t>🏛️ Needs institution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66760" y="4224528"/>
            <a:ext cx="34290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250" dirty="0">
                <a:solidFill>
                  <a:srgbClr val="2C3E50"/>
                </a:solidFill>
              </a:rPr>
              <a:t>Brigham</a:t>
            </a:r>
            <a:r>
              <a:rPr sz="1250" b="0" i="0" dirty="0">
                <a:solidFill>
                  <a:srgbClr val="2C3E50"/>
                </a:solidFill>
              </a:rPr>
              <a:t> or partner institution must open the project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09360" y="4681727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7E22"/>
                </a:solidFill>
              </a:rPr>
              <a:t>🗺️ Field mapping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66760" y="4700016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C3E50"/>
                </a:solidFill>
              </a:rPr>
              <a:t>Form fields must map to REDCap variable names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09360" y="5157216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7E22"/>
                </a:solidFill>
              </a:rPr>
              <a:t>📴 Offline limited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83158" y="5107198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 dirty="0" err="1">
                <a:solidFill>
                  <a:srgbClr val="2C3E50"/>
                </a:solidFill>
              </a:rPr>
              <a:t>REDCap</a:t>
            </a:r>
            <a:r>
              <a:rPr sz="1250" b="0" i="0" dirty="0">
                <a:solidFill>
                  <a:srgbClr val="2C3E50"/>
                </a:solidFill>
              </a:rPr>
              <a:t> API needs connection (solvable with local cache)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09360" y="5632704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7E22"/>
                </a:solidFill>
              </a:rPr>
              <a:t>📈 Basic dashboard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66760" y="5650992"/>
            <a:ext cx="3429000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 dirty="0" err="1">
                <a:solidFill>
                  <a:srgbClr val="2C3E50"/>
                </a:solidFill>
              </a:rPr>
              <a:t>REDCap</a:t>
            </a:r>
            <a:r>
              <a:rPr sz="1250" b="0" i="0" dirty="0">
                <a:solidFill>
                  <a:srgbClr val="2C3E50"/>
                </a:solidFill>
              </a:rPr>
              <a:t> reports are basic </a:t>
            </a:r>
            <a:r>
              <a:rPr lang="en-US" sz="1250" b="0" i="0" dirty="0">
                <a:solidFill>
                  <a:srgbClr val="2C3E50"/>
                </a:solidFill>
              </a:rPr>
              <a:t>/</a:t>
            </a:r>
            <a:r>
              <a:rPr sz="1250" b="0" i="0" dirty="0">
                <a:solidFill>
                  <a:srgbClr val="2C3E50"/>
                </a:solidFill>
              </a:rPr>
              <a:t> app can pull via API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09360" y="610819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7E22"/>
                </a:solidFill>
              </a:rPr>
              <a:t>⏱️ Initial setup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66760" y="6126480"/>
            <a:ext cx="3429000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 dirty="0">
                <a:solidFill>
                  <a:srgbClr val="2C3E50"/>
                </a:solidFill>
              </a:rPr>
              <a:t>~1</a:t>
            </a:r>
            <a:r>
              <a:rPr lang="en-US" sz="1250" b="0" i="0" dirty="0">
                <a:solidFill>
                  <a:srgbClr val="2C3E50"/>
                </a:solidFill>
              </a:rPr>
              <a:t>/2</a:t>
            </a:r>
            <a:r>
              <a:rPr sz="1250" b="0" i="0" dirty="0">
                <a:solidFill>
                  <a:srgbClr val="2C3E50"/>
                </a:solidFill>
              </a:rPr>
              <a:t> week</a:t>
            </a:r>
            <a:r>
              <a:rPr lang="en-US" sz="1250" b="0" i="0" dirty="0">
                <a:solidFill>
                  <a:srgbClr val="2C3E50"/>
                </a:solidFill>
              </a:rPr>
              <a:t>s</a:t>
            </a:r>
            <a:r>
              <a:rPr sz="1250" b="0" i="0" dirty="0">
                <a:solidFill>
                  <a:srgbClr val="2C3E50"/>
                </a:solidFill>
              </a:rPr>
              <a:t> to </a:t>
            </a:r>
            <a:r>
              <a:rPr lang="en-US" sz="1250" b="0" i="0" dirty="0">
                <a:solidFill>
                  <a:srgbClr val="2C3E50"/>
                </a:solidFill>
              </a:rPr>
              <a:t>code </a:t>
            </a:r>
            <a:r>
              <a:rPr sz="1250" b="0" i="0" dirty="0">
                <a:solidFill>
                  <a:srgbClr val="2C3E50"/>
                </a:solidFill>
              </a:rPr>
              <a:t>+ map variables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 dirty="0" err="1">
                <a:solidFill>
                  <a:srgbClr val="FFFFFF"/>
                </a:solidFill>
              </a:rPr>
              <a:t>REDCap</a:t>
            </a:r>
            <a:r>
              <a:rPr sz="2600" b="1" i="0" dirty="0">
                <a:solidFill>
                  <a:srgbClr val="FFFFFF"/>
                </a:solidFill>
              </a:rPr>
              <a:t> </a:t>
            </a:r>
            <a:r>
              <a:rPr lang="en-US" sz="2600" b="1" i="0" dirty="0">
                <a:solidFill>
                  <a:srgbClr val="FFFFFF"/>
                </a:solidFill>
              </a:rPr>
              <a:t>—</a:t>
            </a:r>
            <a:r>
              <a:rPr sz="2600" b="1" i="0" dirty="0">
                <a:solidFill>
                  <a:srgbClr val="FFFFFF"/>
                </a:solidFill>
              </a:rPr>
              <a:t> Technical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49808"/>
            <a:ext cx="11430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ED6F1"/>
                </a:solidFill>
              </a:rPr>
              <a:t>Minimal code changes to connect the existing app to the REDCap API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25880"/>
            <a:ext cx="5394960" cy="521208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444752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3A6B"/>
                </a:solidFill>
              </a:rPr>
              <a:t>🔧 What Changes in the Code?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2057400"/>
            <a:ext cx="1280160" cy="566928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38328" y="2084831"/>
            <a:ext cx="124358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No change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19072" y="2121408"/>
            <a:ext cx="3840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The 16-step form stays exactly as-is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788920"/>
            <a:ext cx="1280160" cy="566928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8328" y="2816352"/>
            <a:ext cx="124358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No change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19072" y="2852928"/>
            <a:ext cx="3840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Dashboard can keep reading from REDCap API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520440"/>
            <a:ext cx="1280160" cy="566928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38328" y="3547872"/>
            <a:ext cx="124358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New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19072" y="3584448"/>
            <a:ext cx="3840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Next.js API route: receives form → POST to REDCap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4251960"/>
            <a:ext cx="1280160" cy="566928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38328" y="4279392"/>
            <a:ext cx="124358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New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19072" y="4315968"/>
            <a:ext cx="3840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Field mapping: app_field_name → redcap_variable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4983480"/>
            <a:ext cx="1280160" cy="566928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38328" y="5010912"/>
            <a:ext cx="124358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New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19072" y="5047488"/>
            <a:ext cx="3840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Env vars: REDCAP_API_TOKEN + REDCAP_URL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5715000"/>
            <a:ext cx="1280160" cy="56692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38328" y="5742431"/>
            <a:ext cx="124358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Optional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19072" y="5779008"/>
            <a:ext cx="3840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Local cache (IndexedDB) for offline → sync on reconnect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0" y="1325880"/>
            <a:ext cx="5943600" cy="521208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126480" y="1444752"/>
            <a:ext cx="5577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3A6B"/>
                </a:solidFill>
              </a:rPr>
              <a:t>📋 Setup Process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89320" y="2057400"/>
            <a:ext cx="457200" cy="5303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07608" y="2084831"/>
            <a:ext cx="4206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47104" y="2121408"/>
            <a:ext cx="3749039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2C3E50"/>
                </a:solidFill>
              </a:rPr>
              <a:t>Request </a:t>
            </a:r>
            <a:r>
              <a:rPr sz="1300" b="0" i="0" dirty="0" err="1">
                <a:solidFill>
                  <a:srgbClr val="2C3E50"/>
                </a:solidFill>
              </a:rPr>
              <a:t>REDCap</a:t>
            </a:r>
            <a:r>
              <a:rPr sz="1300" b="0" i="0" dirty="0">
                <a:solidFill>
                  <a:srgbClr val="2C3E50"/>
                </a:solidFill>
              </a:rPr>
              <a:t> project a</a:t>
            </a:r>
            <a:r>
              <a:rPr lang="en-US" sz="1300" b="0" i="0" dirty="0">
                <a:solidFill>
                  <a:srgbClr val="2C3E50"/>
                </a:solidFill>
              </a:rPr>
              <a:t>t Institution</a:t>
            </a:r>
            <a:endParaRPr sz="1300" b="0" i="0" dirty="0">
              <a:solidFill>
                <a:srgbClr val="2C3E50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0332720" y="2121408"/>
            <a:ext cx="1417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1">
                <a:solidFill>
                  <a:srgbClr val="7F8C8D"/>
                </a:solidFill>
              </a:rPr>
              <a:t>~1–3 days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89320" y="2697480"/>
            <a:ext cx="457200" cy="5303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007608" y="2724911"/>
            <a:ext cx="4206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47104" y="2761487"/>
            <a:ext cx="374903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Define REDCap variables = form fields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32720" y="2761487"/>
            <a:ext cx="1417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1">
                <a:solidFill>
                  <a:srgbClr val="7F8C8D"/>
                </a:solidFill>
              </a:rPr>
              <a:t>~1 day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89320" y="3337560"/>
            <a:ext cx="457200" cy="5303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07608" y="3364991"/>
            <a:ext cx="4206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47104" y="3401568"/>
            <a:ext cx="374903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Generate API token in REDCap dashboard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32720" y="3401568"/>
            <a:ext cx="1417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1">
                <a:solidFill>
                  <a:srgbClr val="7F8C8D"/>
                </a:solidFill>
              </a:rPr>
              <a:t>5 min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89320" y="3977639"/>
            <a:ext cx="457200" cy="5303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007608" y="4005071"/>
            <a:ext cx="4206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47104" y="4041648"/>
            <a:ext cx="374903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Write the API route in Next.js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332720" y="4041648"/>
            <a:ext cx="1417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1">
                <a:solidFill>
                  <a:srgbClr val="7F8C8D"/>
                </a:solidFill>
              </a:rPr>
              <a:t>~4–8 hrs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989320" y="4617720"/>
            <a:ext cx="457200" cy="5303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007608" y="4645152"/>
            <a:ext cx="4206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47104" y="4681727"/>
            <a:ext cx="374903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Map 50–60 form fields to REDCap API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332720" y="4681727"/>
            <a:ext cx="1417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1">
                <a:solidFill>
                  <a:srgbClr val="7F8C8D"/>
                </a:solidFill>
              </a:rPr>
              <a:t>~4–8 hrs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89320" y="5257800"/>
            <a:ext cx="457200" cy="5303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007608" y="5285231"/>
            <a:ext cx="4206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47104" y="5321808"/>
            <a:ext cx="374903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End-to-end testing (form → REDCap)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332720" y="5321808"/>
            <a:ext cx="1417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1">
                <a:solidFill>
                  <a:srgbClr val="7F8C8D"/>
                </a:solidFill>
              </a:rPr>
              <a:t>~1 day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989320" y="5897879"/>
            <a:ext cx="457200" cy="5303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007608" y="5925311"/>
            <a:ext cx="4206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47104" y="5961888"/>
            <a:ext cx="374903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Deploy + train clinical team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989320" y="6611111"/>
            <a:ext cx="5852160" cy="256032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345936" y="6611112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 dirty="0">
                <a:solidFill>
                  <a:srgbClr val="FFFFFF"/>
                </a:solidFill>
              </a:rPr>
              <a:t>⏱️  Total estimated time: 1–2 weeks  ·  Minimal development cost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Option 2: Supabase Pro + BAA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49808"/>
            <a:ext cx="11430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ED6F1"/>
                </a:solidFill>
              </a:rPr>
              <a:t>Upgrade the existing backend — zero code changes, HIPAA compliant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25880"/>
            <a:ext cx="2286000" cy="914400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1362456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$300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901952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per year</a:t>
            </a:r>
          </a:p>
        </p:txBody>
      </p:sp>
      <p:sp>
        <p:nvSpPr>
          <p:cNvPr id="9" name="Rectangle 8"/>
          <p:cNvSpPr/>
          <p:nvPr/>
        </p:nvSpPr>
        <p:spPr>
          <a:xfrm>
            <a:off x="2788920" y="1325880"/>
            <a:ext cx="9144000" cy="9144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944368" y="1389888"/>
            <a:ext cx="88696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2C3E50"/>
                </a:solidFill>
              </a:rPr>
              <a:t>The app is already 100% built on </a:t>
            </a:r>
            <a:r>
              <a:rPr sz="1400" b="0" i="0" dirty="0" err="1">
                <a:solidFill>
                  <a:srgbClr val="2C3E50"/>
                </a:solidFill>
              </a:rPr>
              <a:t>Supabase</a:t>
            </a:r>
            <a:r>
              <a:rPr sz="1400" b="0" i="0" dirty="0">
                <a:solidFill>
                  <a:srgbClr val="2C3E50"/>
                </a:solidFill>
              </a:rPr>
              <a:t>. Simply upgrade to Pro ($25/</a:t>
            </a:r>
            <a:r>
              <a:rPr sz="1400" b="0" i="0" dirty="0" err="1">
                <a:solidFill>
                  <a:srgbClr val="2C3E50"/>
                </a:solidFill>
              </a:rPr>
              <a:t>mo</a:t>
            </a:r>
            <a:r>
              <a:rPr sz="1400" b="0" i="0" dirty="0">
                <a:solidFill>
                  <a:srgbClr val="2C3E50"/>
                </a:solidFill>
              </a:rPr>
              <a:t>) and sign the BAA.</a:t>
            </a:r>
          </a:p>
          <a:p>
            <a:pPr algn="l"/>
            <a:r>
              <a:rPr sz="1400" b="0" i="0" dirty="0">
                <a:solidFill>
                  <a:srgbClr val="2C3E50"/>
                </a:solidFill>
              </a:rPr>
              <a:t>No code migration required. HIPAA coverage activated in days.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377440"/>
            <a:ext cx="11640312" cy="141732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245059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3A6B"/>
                </a:solidFill>
              </a:rPr>
              <a:t>Architecture (unchanged):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834640"/>
            <a:ext cx="2212848" cy="71323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01752" y="2871216"/>
            <a:ext cx="215798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👤 User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306324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E6DB4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15184" y="2834640"/>
            <a:ext cx="2212848" cy="713232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642616" y="2871216"/>
            <a:ext cx="215798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📱 Vercel App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01183" y="306324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E6DB4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56048" y="2834640"/>
            <a:ext cx="2212848" cy="713232"/>
          </a:xfrm>
          <a:prstGeom prst="rect">
            <a:avLst/>
          </a:prstGeom>
          <a:solidFill>
            <a:srgbClr val="0E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983480" y="2871216"/>
            <a:ext cx="215798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🔐 Supabase Auth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42048" y="306324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E6DB4"/>
                </a:solidFill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96912" y="2834640"/>
            <a:ext cx="2212848" cy="713232"/>
          </a:xfrm>
          <a:prstGeom prst="rect">
            <a:avLst/>
          </a:prstGeom>
          <a:solidFill>
            <a:srgbClr val="0E5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24344" y="2871216"/>
            <a:ext cx="215798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🗄️ Supabase PostgreSQL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82912" y="306324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E6DB4"/>
                </a:solidFill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37776" y="2834640"/>
            <a:ext cx="2212848" cy="713232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665208" y="2871216"/>
            <a:ext cx="215798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✅ BAA = HIPAA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867911"/>
            <a:ext cx="5577840" cy="2670047"/>
          </a:xfrm>
          <a:prstGeom prst="rect">
            <a:avLst/>
          </a:prstGeom>
          <a:solidFill>
            <a:srgbClr val="D5F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7200" y="3952025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1E8B4C"/>
                </a:solidFill>
              </a:rPr>
              <a:t>✅  Advantages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438912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✓  Zero code changes in the existing app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4809744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✓  BAA available on Pro — signed in the Supabase dashboard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5230368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✓  Supabase runs on AWS us-east-1 — same infra as major hospital systems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5650992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✓  Auth, DB, RLS, storage — all HIPAA under one provider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6071616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✓  Dashboard, offline PWA and exports continue working as-is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26480" y="3872485"/>
            <a:ext cx="5760720" cy="2665474"/>
          </a:xfrm>
          <a:prstGeom prst="rect">
            <a:avLst/>
          </a:prstGeom>
          <a:solidFill>
            <a:srgbClr val="FEF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309360" y="3933326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E67E22"/>
                </a:solidFill>
              </a:rPr>
              <a:t>⚠️  Considerations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60" y="438912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▸  Fixed $25/mo cost even at zero patients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0" y="4956048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▸  Vercel stays free (PHI does not pass through Vercel)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9360" y="5522976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▸  Must add session timeout + audit log + MFA (~1–2 days)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-13717" y="6615684"/>
            <a:ext cx="12202541" cy="2743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02920" y="6615684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FFFFFF"/>
                </a:solidFill>
              </a:rPr>
              <a:t>  STEPS:   1. Upgrade to </a:t>
            </a:r>
            <a:r>
              <a:rPr sz="1200" b="1" i="0" dirty="0" err="1">
                <a:solidFill>
                  <a:srgbClr val="FFFFFF"/>
                </a:solidFill>
              </a:rPr>
              <a:t>Supabase</a:t>
            </a:r>
            <a:r>
              <a:rPr sz="1200" b="1" i="0" dirty="0">
                <a:solidFill>
                  <a:srgbClr val="FFFFFF"/>
                </a:solidFill>
              </a:rPr>
              <a:t> Pro   →   2. Sign BAA in dashboard   →   3. Add session timeout + MFA + audit log   →   4. Document risk assessment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Option 3: Amazon Web Services (AWS)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49808"/>
            <a:ext cx="11430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ED6F1"/>
                </a:solidFill>
              </a:rPr>
              <a:t>Enterprise-grade infrastructure — maximum flexibility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25880"/>
            <a:ext cx="2286000" cy="9144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1362456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$600–$1,800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901952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per year (variable)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88920" y="1325880"/>
            <a:ext cx="9144000" cy="914400"/>
          </a:xfrm>
          <a:prstGeom prst="rect">
            <a:avLst/>
          </a:prstGeom>
          <a:solidFill>
            <a:srgbClr val="FEF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944368" y="1389888"/>
            <a:ext cx="88696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C3E50"/>
                </a:solidFill>
              </a:rPr>
              <a:t>AWS signs BAA on any paid plan. Architecture: RDS PostgreSQL + Cognito (auth) + Amplify (hosting).</a:t>
            </a:r>
          </a:p>
          <a:p>
            <a:pPr algn="l"/>
            <a:r>
              <a:rPr sz="1400" b="0" i="0">
                <a:solidFill>
                  <a:srgbClr val="2C3E50"/>
                </a:solidFill>
              </a:rPr>
              <a:t>Significant code migration required. Used by Epic, Cerner, and large hospital systems.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377440"/>
            <a:ext cx="11640312" cy="141732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245059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3A6B"/>
                </a:solidFill>
              </a:rPr>
              <a:t>AWS Architecture: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816352"/>
            <a:ext cx="2212848" cy="7772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01752" y="2852928"/>
            <a:ext cx="2157984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👤 User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306324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67E22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15184" y="2816352"/>
            <a:ext cx="2212848" cy="7772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642616" y="2852928"/>
            <a:ext cx="2157984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📱 AWS Amplify</a:t>
            </a:r>
          </a:p>
          <a:p>
            <a:pPr algn="ctr"/>
            <a:r>
              <a:rPr sz="1200" b="1" i="0">
                <a:solidFill>
                  <a:srgbClr val="FFFFFF"/>
                </a:solidFill>
              </a:rPr>
              <a:t>(hosting)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01183" y="306324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67E22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56048" y="2816352"/>
            <a:ext cx="2212848" cy="777240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983480" y="2852928"/>
            <a:ext cx="2157984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🔐 Cognito</a:t>
            </a:r>
          </a:p>
          <a:p>
            <a:pPr algn="ctr"/>
            <a:r>
              <a:rPr sz="1200" b="1" i="0">
                <a:solidFill>
                  <a:srgbClr val="FFFFFF"/>
                </a:solidFill>
              </a:rPr>
              <a:t>(auth)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42048" y="306324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67E22"/>
                </a:solidFill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96912" y="2816352"/>
            <a:ext cx="2212848" cy="777240"/>
          </a:xfrm>
          <a:prstGeom prst="rect">
            <a:avLst/>
          </a:prstGeom>
          <a:solidFill>
            <a:srgbClr val="8B3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24344" y="2852928"/>
            <a:ext cx="2157984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🗄️ RDS PostgreSQL</a:t>
            </a:r>
          </a:p>
          <a:p>
            <a:pPr algn="ctr"/>
            <a:r>
              <a:rPr sz="1200" b="1" i="0">
                <a:solidFill>
                  <a:srgbClr val="FFFFFF"/>
                </a:solidFill>
              </a:rPr>
              <a:t>+ KMS encrypt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82912" y="306324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67E22"/>
                </a:solidFill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37776" y="2816352"/>
            <a:ext cx="2212848" cy="77724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665208" y="2852928"/>
            <a:ext cx="2157984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✅ BAA = HIPAA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749039"/>
            <a:ext cx="5577840" cy="2788920"/>
          </a:xfrm>
          <a:prstGeom prst="rect">
            <a:avLst/>
          </a:prstGeom>
          <a:solidFill>
            <a:srgbClr val="D5F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7200" y="385876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8B4C"/>
                </a:solidFill>
              </a:rPr>
              <a:t>✅  Advantages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438912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✓  Gold standard for healthcare IT in the United States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4809744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✓  BAA available — AWS is HIPAA-eligible across all key services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5230368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✓  Maximum infrastructure control and visibility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5650992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✓  Native audit logging via CloudTrail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6071616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✓  Scales to millions of patients without re-architecting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26480" y="3749039"/>
            <a:ext cx="5760720" cy="278892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309360" y="3858768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0392B"/>
                </a:solidFill>
              </a:rPr>
              <a:t>✗  Disadvantages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60" y="438912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✗  Full code migration: auth, DB, API — weeks of work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0" y="4809744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✗  High operational complexity: IAM, VPC, security groups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9360" y="5230368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✗  Requires DevOps expertise to maintain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9360" y="5650992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✗  Variable cost — can increase with usage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9360" y="6071616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✗  Overkill for a single-hospital pilot stage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Option 4: Google Cloud Platform / Firebase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49808"/>
            <a:ext cx="11430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ED6F1"/>
                </a:solidFill>
              </a:rPr>
              <a:t>Low cost at small scale — BAA available on Blaze plan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25880"/>
            <a:ext cx="2286000" cy="914400"/>
          </a:xfrm>
          <a:prstGeom prst="rect">
            <a:avLst/>
          </a:prstGeom>
          <a:solidFill>
            <a:srgbClr val="0E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1362456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$0–$360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901952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per year (pay-as-you-go)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88920" y="1325880"/>
            <a:ext cx="9144000" cy="914400"/>
          </a:xfrm>
          <a:prstGeom prst="rect">
            <a:avLst/>
          </a:prstGeom>
          <a:solidFill>
            <a:srgbClr val="D1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944368" y="1389888"/>
            <a:ext cx="88696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C3E50"/>
                </a:solidFill>
              </a:rPr>
              <a:t>Google signs BAA under GCP. Firebase Auth + Firestore (or Cloud SQL) are HIPAA-eligible.</a:t>
            </a:r>
          </a:p>
          <a:p>
            <a:pPr algn="l"/>
            <a:r>
              <a:rPr sz="1400" b="0" i="0">
                <a:solidFill>
                  <a:srgbClr val="2C3E50"/>
                </a:solidFill>
              </a:rPr>
              <a:t>Near-zero cost at low volumes. Significant code migration required.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377440"/>
            <a:ext cx="11640312" cy="141732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245059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3A6B"/>
                </a:solidFill>
              </a:rPr>
              <a:t>GCP Architecture: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816352"/>
            <a:ext cx="2212848" cy="7772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01752" y="2852928"/>
            <a:ext cx="2157984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👤 User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306324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E868A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15184" y="2816352"/>
            <a:ext cx="2212848" cy="777240"/>
          </a:xfrm>
          <a:prstGeom prst="rect">
            <a:avLst/>
          </a:prstGeom>
          <a:solidFill>
            <a:srgbClr val="0E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642616" y="2852928"/>
            <a:ext cx="2157984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📱 Cloud Run</a:t>
            </a:r>
          </a:p>
          <a:p>
            <a:pPr algn="ctr"/>
            <a:r>
              <a:rPr sz="1200" b="1" i="0">
                <a:solidFill>
                  <a:srgbClr val="FFFFFF"/>
                </a:solidFill>
              </a:rPr>
              <a:t>(hosting)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01183" y="306324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E868A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56048" y="2816352"/>
            <a:ext cx="2212848" cy="777240"/>
          </a:xfrm>
          <a:prstGeom prst="rect">
            <a:avLst/>
          </a:prstGeom>
          <a:solidFill>
            <a:srgbClr val="0A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983480" y="2852928"/>
            <a:ext cx="2157984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🔐 Firebase Auth</a:t>
            </a:r>
          </a:p>
          <a:p>
            <a:pPr algn="ctr"/>
            <a:r>
              <a:rPr sz="1200" b="1" i="0">
                <a:solidFill>
                  <a:srgbClr val="FFFFFF"/>
                </a:solidFill>
              </a:rPr>
              <a:t>(Google)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42048" y="306324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E868A"/>
                </a:solidFill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96912" y="2816352"/>
            <a:ext cx="2212848" cy="777240"/>
          </a:xfrm>
          <a:prstGeom prst="rect">
            <a:avLst/>
          </a:prstGeom>
          <a:solidFill>
            <a:srgbClr val="06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24344" y="2852928"/>
            <a:ext cx="2157984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🗄️ Firestore or</a:t>
            </a:r>
          </a:p>
          <a:p>
            <a:pPr algn="ctr"/>
            <a:r>
              <a:rPr sz="1200" b="1" i="0">
                <a:solidFill>
                  <a:srgbClr val="FFFFFF"/>
                </a:solidFill>
              </a:rPr>
              <a:t>Cloud SQL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82912" y="306324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E868A"/>
                </a:solidFill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37776" y="2816352"/>
            <a:ext cx="2212848" cy="77724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665208" y="2852928"/>
            <a:ext cx="2157984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✅ BAA = HIPAA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749039"/>
            <a:ext cx="5577840" cy="2788920"/>
          </a:xfrm>
          <a:prstGeom prst="rect">
            <a:avLst/>
          </a:prstGeom>
          <a:solidFill>
            <a:srgbClr val="D5F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7200" y="385876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8B4C"/>
                </a:solidFill>
              </a:rPr>
              <a:t>✅  Advantages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438912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✓  Near-zero cost at low data volumes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4809744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✓  Google signs BAA on Blaze plan (free or pay-as-you-go)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5230368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2C3E50"/>
                </a:solidFill>
              </a:rPr>
              <a:t>✓  Firebase Auth is robust with MFA built-in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5650992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✓  Cloud SQL = PostgreSQL (easier to migrate than Firestore)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6071616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✓  Google Workspace / Drive integration for reports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26480" y="3749039"/>
            <a:ext cx="5760720" cy="278892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309360" y="3858768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0392B"/>
                </a:solidFill>
              </a:rPr>
              <a:t>✗  Disadvantages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60" y="438912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✗  Full code migration from Supabase to Firebase/GCP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0" y="4809744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✗  Firestore is NoSQL — very different from current schema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9360" y="5230368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✗  Cloud SQL needs more configuration than Supabase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9360" y="5650992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✗  GCP learning curve vs. simplicity of Supabase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9360" y="6071616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✗  Vendor lock-in to Google ecosystem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27" y="301752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Cost &amp; Feature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49808"/>
            <a:ext cx="11430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ED6F1"/>
                </a:solidFill>
              </a:rPr>
              <a:t>Annual analysis for a single-hospital pilot (~500–1,000 patients/year)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2788920" cy="1024128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1298448"/>
            <a:ext cx="2788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REDCap</a:t>
            </a:r>
          </a:p>
          <a:p>
            <a:pPr algn="ctr"/>
            <a:r>
              <a:rPr sz="1300" b="1" i="0">
                <a:solidFill>
                  <a:srgbClr val="FFFFFF"/>
                </a:solidFill>
              </a:rPr>
              <a:t>(Institutional)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673352"/>
            <a:ext cx="27889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$0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066544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>
                <a:solidFill>
                  <a:srgbClr val="DDDDDD"/>
                </a:solidFill>
              </a:rPr>
              <a:t>/year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55263" y="1280160"/>
            <a:ext cx="2788920" cy="1024128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55263" y="1298448"/>
            <a:ext cx="2788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Supabase Pro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55263" y="1673352"/>
            <a:ext cx="27889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$300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55262" y="2055031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DDDDD"/>
                </a:solidFill>
              </a:rPr>
              <a:t>/year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6207" y="1280160"/>
            <a:ext cx="2788920" cy="1024128"/>
          </a:xfrm>
          <a:prstGeom prst="rect">
            <a:avLst/>
          </a:prstGeom>
          <a:solidFill>
            <a:srgbClr val="0E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36207" y="1298448"/>
            <a:ext cx="2788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Google Cloud</a:t>
            </a:r>
          </a:p>
          <a:p>
            <a:pPr algn="ctr"/>
            <a:r>
              <a:rPr sz="1300" b="1" i="0">
                <a:solidFill>
                  <a:srgbClr val="FFFFFF"/>
                </a:solidFill>
              </a:rPr>
              <a:t>(Firebase)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6207" y="1673352"/>
            <a:ext cx="27889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$0–360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36204" y="2067921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DDDDD"/>
                </a:solidFill>
              </a:rPr>
              <a:t>/year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17152" y="1280160"/>
            <a:ext cx="2788920" cy="102412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217152" y="1298448"/>
            <a:ext cx="2788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AWS</a:t>
            </a:r>
          </a:p>
          <a:p>
            <a:pPr algn="ctr"/>
            <a:r>
              <a:rPr sz="1300" b="1" i="0">
                <a:solidFill>
                  <a:srgbClr val="FFFFFF"/>
                </a:solidFill>
              </a:rPr>
              <a:t>(RDS + Cognito)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7152" y="1673352"/>
            <a:ext cx="27889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$300–600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17152" y="2043684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>
                <a:solidFill>
                  <a:srgbClr val="DDDDDD"/>
                </a:solidFill>
              </a:rPr>
              <a:t>/year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2487168"/>
            <a:ext cx="11640312" cy="4572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29184" y="2514600"/>
            <a:ext cx="28529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Feature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19272" y="2514600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REDCap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05272" y="2514600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Supabase Pro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91272" y="2514600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Google Cloud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77272" y="2514600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AWS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2980944"/>
            <a:ext cx="11640312" cy="36576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29184" y="2999232"/>
            <a:ext cx="28529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HIPAA Compliance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19272" y="2999232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3E50"/>
                </a:solidFill>
              </a:rPr>
              <a:t>✅ Institutional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05272" y="2999232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3E50"/>
                </a:solidFill>
              </a:rPr>
              <a:t>✅ BAA on Pro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91272" y="2999232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3E50"/>
                </a:solidFill>
              </a:rPr>
              <a:t>✅ BAA Blaze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77272" y="299923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3E50"/>
                </a:solidFill>
              </a:rPr>
              <a:t>✅ BAA any paid plan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3355848"/>
            <a:ext cx="11640312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29184" y="3374136"/>
            <a:ext cx="28529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Annual cost estimate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19272" y="3374136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3E50"/>
                </a:solidFill>
              </a:rPr>
              <a:t>💚 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05272" y="3374136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3E50"/>
                </a:solidFill>
              </a:rPr>
              <a:t>🔵 $300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91272" y="3374136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3E50"/>
                </a:solidFill>
              </a:rPr>
              <a:t>🟢 $0–$360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77272" y="3374136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3E50"/>
                </a:solidFill>
              </a:rPr>
              <a:t>🟡 $300–$600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3730752"/>
            <a:ext cx="11640312" cy="36576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29184" y="3749039"/>
            <a:ext cx="28529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Code changes required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19272" y="3749039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3E50"/>
                </a:solidFill>
              </a:rPr>
              <a:t>🟡 Medium (API)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05272" y="3749039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3E50"/>
                </a:solidFill>
              </a:rPr>
              <a:t>✅ Minimal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91272" y="3749039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3E50"/>
                </a:solidFill>
              </a:rPr>
              <a:t>🔴 High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177272" y="3749039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3E50"/>
                </a:solidFill>
              </a:rPr>
              <a:t>🔴 High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4105656"/>
            <a:ext cx="11640312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29184" y="4123944"/>
            <a:ext cx="28529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Time to implement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319272" y="4123944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3E50"/>
                </a:solidFill>
              </a:rPr>
              <a:t>1–2 weeks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05272" y="4123944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3E50"/>
                </a:solidFill>
              </a:rPr>
              <a:t>2–3 days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891272" y="4123944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3E50"/>
                </a:solidFill>
              </a:rPr>
              <a:t>4–8 weeks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177272" y="4123944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3E50"/>
                </a:solidFill>
              </a:rPr>
              <a:t>4–8 weeks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74320" y="4480559"/>
            <a:ext cx="11640312" cy="36576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329184" y="4498848"/>
            <a:ext cx="28529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Offline / PWA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319272" y="4498848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3E50"/>
                </a:solidFill>
              </a:rPr>
              <a:t>🟡 With cache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605272" y="4498848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3E50"/>
                </a:solidFill>
              </a:rPr>
              <a:t>✅ Full support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91272" y="4498848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3E50"/>
                </a:solidFill>
              </a:rPr>
              <a:t>🟡 With cache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177272" y="449884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3E50"/>
                </a:solidFill>
              </a:rPr>
              <a:t>🟡 With cache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74320" y="4855464"/>
            <a:ext cx="11640312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29184" y="4873752"/>
            <a:ext cx="28529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Real-time dashboard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319272" y="4873752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3E50"/>
                </a:solidFill>
              </a:rPr>
              <a:t>🟡 API pull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605272" y="4873752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3E50"/>
                </a:solidFill>
              </a:rPr>
              <a:t>✅ Works now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891272" y="4873752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3E50"/>
                </a:solidFill>
              </a:rPr>
              <a:t>🟡 Needs dev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177272" y="487375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3E50"/>
                </a:solidFill>
              </a:rPr>
              <a:t>🟡 Needs dev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74320" y="5230368"/>
            <a:ext cx="11640312" cy="36576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329184" y="5248656"/>
            <a:ext cx="28529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Research data exports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319272" y="5248656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3E50"/>
                </a:solidFill>
              </a:rPr>
              <a:t>✅ SPSS/SAS/R/CSV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605272" y="5248656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3E50"/>
                </a:solidFill>
              </a:rPr>
              <a:t>✅ Excel/CSV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891272" y="5248656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3E50"/>
                </a:solidFill>
              </a:rPr>
              <a:t>🟡 CSV/JSON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177272" y="5248656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3E50"/>
                </a:solidFill>
              </a:rPr>
              <a:t>🟡 CSV/JSON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74320" y="5605271"/>
            <a:ext cx="11640312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329184" y="5623559"/>
            <a:ext cx="28529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Known by researchers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319272" y="5623559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3E50"/>
                </a:solidFill>
              </a:rPr>
              <a:t>✅ Gold standard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605272" y="5623559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3E50"/>
                </a:solidFill>
              </a:rPr>
              <a:t>🟡 Unknown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891272" y="5623559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3E50"/>
                </a:solidFill>
              </a:rPr>
              <a:t>🟡 Unknown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177272" y="5623559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3E50"/>
                </a:solidFill>
              </a:rPr>
              <a:t>🟡 Unknown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74320" y="5980175"/>
            <a:ext cx="11640312" cy="36576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329184" y="5998464"/>
            <a:ext cx="28529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Scalability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319272" y="5998464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3E50"/>
                </a:solidFill>
              </a:rPr>
              <a:t>✅ High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605272" y="5998464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3E50"/>
                </a:solidFill>
              </a:rPr>
              <a:t>✅ High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91272" y="5998464"/>
            <a:ext cx="21488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>
                <a:solidFill>
                  <a:srgbClr val="2C3E50"/>
                </a:solidFill>
              </a:rPr>
              <a:t>✅ </a:t>
            </a:r>
            <a:r>
              <a:rPr lang="en-US" sz="1100" b="0" i="0" dirty="0">
                <a:solidFill>
                  <a:srgbClr val="2C3E50"/>
                </a:solidFill>
              </a:rPr>
              <a:t>Very </a:t>
            </a:r>
            <a:r>
              <a:rPr sz="1100" b="0" i="0" dirty="0">
                <a:solidFill>
                  <a:srgbClr val="2C3E50"/>
                </a:solidFill>
              </a:rPr>
              <a:t>High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177272" y="5998464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3E50"/>
                </a:solidFill>
              </a:rPr>
              <a:t>✅ Very high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01752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344233"/>
            <a:ext cx="11430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600" b="1" dirty="0">
                <a:solidFill>
                  <a:srgbClr val="FFFFFF"/>
                </a:solidFill>
              </a:rPr>
              <a:t>Next Steps ? </a:t>
            </a:r>
            <a:endParaRPr sz="2600" b="1" i="0" dirty="0">
              <a:solidFill>
                <a:srgbClr val="FFFFFF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74320" y="1325880"/>
            <a:ext cx="5577840" cy="5212080"/>
          </a:xfrm>
          <a:prstGeom prst="rect">
            <a:avLst/>
          </a:prstGeom>
          <a:solidFill>
            <a:srgbClr val="D5F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1325880"/>
            <a:ext cx="5577840" cy="59436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1362456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⭐  Phase 1 — Research Pilot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0574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B3A6B"/>
                </a:solidFill>
              </a:rPr>
              <a:t>REDCap + RESPOND Guatemala 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523744"/>
            <a:ext cx="53035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1E8B4C"/>
                </a:solidFill>
              </a:rPr>
              <a:t>$0/year if </a:t>
            </a:r>
            <a:r>
              <a:rPr lang="en-US" sz="1400" b="1" dirty="0">
                <a:solidFill>
                  <a:srgbClr val="1E8B4C"/>
                </a:solidFill>
              </a:rPr>
              <a:t>Institution</a:t>
            </a:r>
            <a:r>
              <a:rPr sz="1400" b="1" i="0" dirty="0">
                <a:solidFill>
                  <a:srgbClr val="1E8B4C"/>
                </a:solidFill>
              </a:rPr>
              <a:t> has </a:t>
            </a:r>
            <a:r>
              <a:rPr sz="1400" b="1" i="0" dirty="0" err="1">
                <a:solidFill>
                  <a:srgbClr val="1E8B4C"/>
                </a:solidFill>
              </a:rPr>
              <a:t>REDCap</a:t>
            </a:r>
            <a:endParaRPr sz="1400" b="1" i="0" dirty="0">
              <a:solidFill>
                <a:srgbClr val="1E8B4C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11480" y="3017520"/>
            <a:ext cx="52120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2C3E50"/>
                </a:solidFill>
              </a:rPr>
              <a:t>✓  HIPAA covered by institution</a:t>
            </a:r>
            <a:r>
              <a:rPr lang="en-US" sz="1300" b="0" i="0" dirty="0">
                <a:solidFill>
                  <a:srgbClr val="2C3E50"/>
                </a:solidFill>
              </a:rPr>
              <a:t>, </a:t>
            </a:r>
            <a:r>
              <a:rPr sz="1300" b="0" i="0" dirty="0">
                <a:solidFill>
                  <a:srgbClr val="2C3E50"/>
                </a:solidFill>
              </a:rPr>
              <a:t>zero cost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3511296"/>
            <a:ext cx="52120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2C3E50"/>
                </a:solidFill>
              </a:rPr>
              <a:t>✓  Data on </a:t>
            </a:r>
            <a:r>
              <a:rPr lang="en-US" sz="1300" dirty="0">
                <a:solidFill>
                  <a:srgbClr val="2C3E50"/>
                </a:solidFill>
              </a:rPr>
              <a:t>Institution Servers</a:t>
            </a:r>
            <a:endParaRPr sz="1300" b="0" i="0" dirty="0">
              <a:solidFill>
                <a:srgbClr val="2C3E5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11480" y="4005072"/>
            <a:ext cx="52120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2C3E50"/>
                </a:solidFill>
              </a:rPr>
              <a:t>✓  </a:t>
            </a:r>
            <a:r>
              <a:rPr sz="1300" b="0" i="0" dirty="0" err="1">
                <a:solidFill>
                  <a:srgbClr val="2C3E50"/>
                </a:solidFill>
              </a:rPr>
              <a:t>REDCap</a:t>
            </a:r>
            <a:r>
              <a:rPr sz="1300" b="0" i="0" dirty="0">
                <a:solidFill>
                  <a:srgbClr val="2C3E50"/>
                </a:solidFill>
              </a:rPr>
              <a:t> is the standard in clinical </a:t>
            </a:r>
            <a:r>
              <a:rPr lang="en-US" sz="1300" dirty="0">
                <a:solidFill>
                  <a:srgbClr val="2C3E50"/>
                </a:solidFill>
              </a:rPr>
              <a:t>research</a:t>
            </a:r>
            <a:endParaRPr sz="1300" b="0" i="0" dirty="0">
              <a:solidFill>
                <a:srgbClr val="2C3E5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11480" y="4498848"/>
            <a:ext cx="52120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2C3E50"/>
                </a:solidFill>
              </a:rPr>
              <a:t>✓  Direct export to SPSS/Stata/R</a:t>
            </a:r>
            <a:r>
              <a:rPr lang="en-US" sz="1300" b="0" i="0" dirty="0">
                <a:solidFill>
                  <a:srgbClr val="2C3E50"/>
                </a:solidFill>
              </a:rPr>
              <a:t>/CSV</a:t>
            </a:r>
            <a:r>
              <a:rPr sz="1300" b="0" i="0" dirty="0">
                <a:solidFill>
                  <a:srgbClr val="2C3E50"/>
                </a:solidFill>
              </a:rPr>
              <a:t> for analysis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4981607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2C3E50"/>
                </a:solidFill>
              </a:rPr>
              <a:t>✓  Minimal monthly operating cost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5495544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2C3E50"/>
                </a:solidFill>
              </a:rPr>
              <a:t>✓  1–2 weeks technical integration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1325880"/>
            <a:ext cx="5760720" cy="521208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26480" y="1325880"/>
            <a:ext cx="5760720" cy="594360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63640" y="1362456"/>
            <a:ext cx="5486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FFFFFF"/>
                </a:solidFill>
              </a:rPr>
              <a:t>🚀  Phase 2 — </a:t>
            </a:r>
            <a:r>
              <a:rPr lang="en-US" sz="1600" b="1" i="0" dirty="0">
                <a:solidFill>
                  <a:srgbClr val="FFFFFF"/>
                </a:solidFill>
              </a:rPr>
              <a:t>Scale &gt; Multiple Hospitals, Centers, Functions</a:t>
            </a:r>
            <a:endParaRPr sz="1600" b="1" i="0" dirty="0">
              <a:solidFill>
                <a:srgbClr val="FFFFFF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263640" y="20574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3A6B"/>
                </a:solidFill>
              </a:rPr>
              <a:t>Supabase Pro (or AWS with funding)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2523744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6DB4"/>
                </a:solidFill>
              </a:rPr>
              <a:t>$300/year (Supabase) · $300–600/year (AWS)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3017520"/>
            <a:ext cx="5577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✓  When scaling to multiple hospitals (&gt;3)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3511296"/>
            <a:ext cx="5577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✓  If advanced real-time dashboard is needed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4009038"/>
            <a:ext cx="5577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2C3E50"/>
                </a:solidFill>
              </a:rPr>
              <a:t>✓  App is already built — just upgrade + sign BAA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4502814"/>
            <a:ext cx="5577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✓  Independent from any academic institution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4997802"/>
            <a:ext cx="5577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✓  Full ownership of patient data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5489154"/>
            <a:ext cx="5577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2C3E50"/>
                </a:solidFill>
              </a:rPr>
              <a:t>✓  2–3 days to implement from today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Platform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49808"/>
            <a:ext cx="11430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ED6F1"/>
                </a:solidFill>
              </a:rPr>
              <a:t>What is already in place vs. what is needed for HIPAA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25880"/>
            <a:ext cx="5577840" cy="5212080"/>
          </a:xfrm>
          <a:prstGeom prst="rect">
            <a:avLst/>
          </a:prstGeom>
          <a:solidFill>
            <a:srgbClr val="D5F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444752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E8B4C"/>
                </a:solidFill>
              </a:rPr>
              <a:t>✅  Already Implemented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2011680"/>
            <a:ext cx="54864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2039112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8B4C"/>
                </a:solidFill>
              </a:rPr>
              <a:t>🔒 HTTPS/TLS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95728" y="2066543"/>
            <a:ext cx="32918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2C3E50"/>
                </a:solidFill>
              </a:rPr>
              <a:t>All traffic encrypted in transit  auto cert by </a:t>
            </a:r>
            <a:r>
              <a:rPr sz="1200" b="0" i="0" dirty="0" err="1">
                <a:solidFill>
                  <a:srgbClr val="2C3E50"/>
                </a:solidFill>
              </a:rPr>
              <a:t>Vercel</a:t>
            </a:r>
            <a:endParaRPr sz="1200" b="0" i="0" dirty="0">
              <a:solidFill>
                <a:srgbClr val="2C3E50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20040" y="2633472"/>
            <a:ext cx="54864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1480" y="2660904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8B4C"/>
                </a:solidFill>
              </a:rPr>
              <a:t>🔐 JWT Auth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95728" y="2688336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Signed tokens with automatic rotation (Supabase Auth)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255264"/>
            <a:ext cx="54864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1480" y="3282696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8B4C"/>
                </a:solidFill>
              </a:rPr>
              <a:t>🛡️ Row Level Security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95728" y="331012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Each user sees only their own patients (PostgreSQL RLS)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3877056"/>
            <a:ext cx="54864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1480" y="3904487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8B4C"/>
                </a:solidFill>
              </a:rPr>
              <a:t>💾 Encryption at Rest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95728" y="393192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AES-256 database encryption (Supabase/AWS)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4498848"/>
            <a:ext cx="54864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11480" y="4526280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8B4C"/>
                </a:solidFill>
              </a:rPr>
              <a:t>🌐 DDoS Protection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95728" y="4553712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Vercel Edge Network — included by default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5120640"/>
            <a:ext cx="54864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11480" y="5148072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8B4C"/>
                </a:solidFill>
              </a:rPr>
              <a:t>🔑 Env Variables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95728" y="5175504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Secrets in Vercel, never in source code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5742432"/>
            <a:ext cx="54864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11480" y="5769864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8B4C"/>
                </a:solidFill>
              </a:rPr>
              <a:t>📦 SOC 2 Type II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95728" y="5797296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Supabase certified — annual security audits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26480" y="1325880"/>
            <a:ext cx="5760720" cy="5212080"/>
          </a:xfrm>
          <a:prstGeom prst="rect">
            <a:avLst/>
          </a:prstGeom>
          <a:solidFill>
            <a:srgbClr val="FEF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09360" y="1444752"/>
            <a:ext cx="5394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67E22"/>
                </a:solidFill>
              </a:rPr>
              <a:t>⚠️  Required for HIPAA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72200" y="2011680"/>
            <a:ext cx="566928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263640" y="2039112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7E22"/>
                </a:solidFill>
              </a:rPr>
              <a:t>⏱️ Session Timeout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2066543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Auto-logout after 15 min of inactivity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72200" y="2633472"/>
            <a:ext cx="566928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263640" y="2660904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7E22"/>
                </a:solidFill>
              </a:rPr>
              <a:t>📋 Audit Log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2688336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Who accessed/modified which patient and when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72200" y="3255264"/>
            <a:ext cx="566928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263640" y="3282696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7E22"/>
                </a:solidFill>
              </a:rPr>
              <a:t>📱 MFA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331012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2-factor authentication for all users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72200" y="3877056"/>
            <a:ext cx="566928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263640" y="3904487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7E22"/>
                </a:solidFill>
              </a:rPr>
              <a:t>🔏 Signed BAA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0" y="393192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2C3E50"/>
                </a:solidFill>
              </a:rPr>
              <a:t>Legal contract with the database provider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72200" y="4498848"/>
            <a:ext cx="566928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263640" y="4526280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7E22"/>
                </a:solidFill>
              </a:rPr>
              <a:t>📄 Privacy Policy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0" y="455371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Published Notice of Privacy Practices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72200" y="5120640"/>
            <a:ext cx="566928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263640" y="5148072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7E22"/>
                </a:solidFill>
              </a:rPr>
              <a:t>📊 Risk Assessment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600" y="5175504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Formal security risk assessment document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72200" y="5742432"/>
            <a:ext cx="566928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263640" y="5769864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7E22"/>
                </a:solidFill>
              </a:rPr>
              <a:t>🎓 Training Records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29600" y="5797296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Documentation of staff HIPAA training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49808"/>
            <a:ext cx="11430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ED6F1"/>
                </a:solidFill>
              </a:rPr>
              <a:t>Path to launching the pilot with full HIPAA compliance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530352" cy="9144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1508760"/>
            <a:ext cx="530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850392" y="1371600"/>
            <a:ext cx="10972800" cy="91440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1426464"/>
            <a:ext cx="5029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3A6B"/>
                </a:solidFill>
              </a:rPr>
              <a:t>Confirm REDCap Access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737447"/>
            <a:ext cx="10744200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 dirty="0">
                <a:solidFill>
                  <a:srgbClr val="2C3E50"/>
                </a:solidFill>
              </a:rPr>
              <a:t>Ask </a:t>
            </a:r>
            <a:r>
              <a:rPr lang="en-US" sz="1250" b="0" i="0" dirty="0">
                <a:solidFill>
                  <a:srgbClr val="2C3E50"/>
                </a:solidFill>
              </a:rPr>
              <a:t>Institution</a:t>
            </a:r>
            <a:r>
              <a:rPr sz="1250" b="0" i="0" dirty="0">
                <a:solidFill>
                  <a:srgbClr val="2C3E50"/>
                </a:solidFill>
              </a:rPr>
              <a:t> if a </a:t>
            </a:r>
            <a:r>
              <a:rPr sz="1250" b="0" i="0" dirty="0" err="1">
                <a:solidFill>
                  <a:srgbClr val="2C3E50"/>
                </a:solidFill>
              </a:rPr>
              <a:t>REDCap</a:t>
            </a:r>
            <a:r>
              <a:rPr sz="1250" b="0" i="0" dirty="0">
                <a:solidFill>
                  <a:srgbClr val="2C3E50"/>
                </a:solidFill>
              </a:rPr>
              <a:t> project is available</a:t>
            </a:r>
            <a:r>
              <a:rPr lang="en-US" sz="1250" dirty="0">
                <a:solidFill>
                  <a:srgbClr val="2C3E50"/>
                </a:solidFill>
              </a:rPr>
              <a:t> or </a:t>
            </a:r>
            <a:r>
              <a:rPr sz="1250" b="0" i="0" dirty="0">
                <a:solidFill>
                  <a:srgbClr val="2C3E50"/>
                </a:solidFill>
              </a:rPr>
              <a:t>submit a new project request (form + approval ~1–3 days).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395728"/>
            <a:ext cx="530352" cy="914400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4320" y="2532888"/>
            <a:ext cx="530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0392" y="2395728"/>
            <a:ext cx="109728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74320" y="3419856"/>
            <a:ext cx="530352" cy="914400"/>
          </a:xfrm>
          <a:prstGeom prst="rect">
            <a:avLst/>
          </a:prstGeom>
          <a:solidFill>
            <a:srgbClr val="0E8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74320" y="3557016"/>
            <a:ext cx="530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0392" y="3419856"/>
            <a:ext cx="10972800" cy="91440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0392" y="2395728"/>
            <a:ext cx="5029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 dirty="0" err="1">
                <a:solidFill>
                  <a:srgbClr val="0E868A"/>
                </a:solidFill>
              </a:rPr>
              <a:t>REDCap</a:t>
            </a:r>
            <a:r>
              <a:rPr sz="1500" b="1" i="0" dirty="0">
                <a:solidFill>
                  <a:srgbClr val="0E868A"/>
                </a:solidFill>
              </a:rPr>
              <a:t> Technical Integration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" y="2790738"/>
            <a:ext cx="10744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 dirty="0">
                <a:solidFill>
                  <a:srgbClr val="2C3E50"/>
                </a:solidFill>
              </a:rPr>
              <a:t>Map the 16-step form fields to </a:t>
            </a:r>
            <a:r>
              <a:rPr sz="1250" b="0" i="0" dirty="0" err="1">
                <a:solidFill>
                  <a:srgbClr val="2C3E50"/>
                </a:solidFill>
              </a:rPr>
              <a:t>REDCap</a:t>
            </a:r>
            <a:r>
              <a:rPr sz="1250" b="0" i="0" dirty="0">
                <a:solidFill>
                  <a:srgbClr val="2C3E50"/>
                </a:solidFill>
              </a:rPr>
              <a:t> variables.</a:t>
            </a:r>
          </a:p>
          <a:p>
            <a:pPr algn="l"/>
            <a:r>
              <a:rPr sz="1250" b="0" i="0" dirty="0">
                <a:solidFill>
                  <a:srgbClr val="2C3E50"/>
                </a:solidFill>
              </a:rPr>
              <a:t>Write the </a:t>
            </a:r>
            <a:r>
              <a:rPr sz="1250" b="0" i="0" dirty="0" err="1">
                <a:solidFill>
                  <a:srgbClr val="2C3E50"/>
                </a:solidFill>
              </a:rPr>
              <a:t>Next.js</a:t>
            </a:r>
            <a:r>
              <a:rPr sz="1250" b="0" i="0" dirty="0">
                <a:solidFill>
                  <a:srgbClr val="2C3E50"/>
                </a:solidFill>
              </a:rPr>
              <a:t> API route to send data (~4–8 hours of development).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443984"/>
            <a:ext cx="530352" cy="91440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74320" y="4581144"/>
            <a:ext cx="530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0392" y="4443984"/>
            <a:ext cx="109728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60120" y="3442716"/>
            <a:ext cx="5029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 dirty="0">
                <a:solidFill>
                  <a:srgbClr val="1E8B4C"/>
                </a:solidFill>
              </a:rPr>
              <a:t>Add HIPAA Technical Controls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3750417"/>
            <a:ext cx="10744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 dirty="0">
                <a:solidFill>
                  <a:srgbClr val="2C3E50"/>
                </a:solidFill>
              </a:rPr>
              <a:t>Session timeout (15 min) · Audit log · MFA for all users.</a:t>
            </a:r>
          </a:p>
          <a:p>
            <a:pPr algn="l"/>
            <a:r>
              <a:rPr sz="1250" b="0" i="0" dirty="0">
                <a:solidFill>
                  <a:srgbClr val="2C3E50"/>
                </a:solidFill>
              </a:rPr>
              <a:t>Estimated: 1–2 days of development, independent of backend choice.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4466844"/>
            <a:ext cx="5029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 dirty="0">
                <a:solidFill>
                  <a:srgbClr val="E67E22"/>
                </a:solidFill>
              </a:rPr>
              <a:t>Pilot Hospital + Training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4847636"/>
            <a:ext cx="107442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 dirty="0">
                <a:solidFill>
                  <a:srgbClr val="2C3E50"/>
                </a:solidFill>
              </a:rPr>
              <a:t>Create 3–5 user accounts.</a:t>
            </a:r>
          </a:p>
          <a:p>
            <a:pPr algn="l"/>
            <a:r>
              <a:rPr sz="1250" b="0" i="0" dirty="0">
                <a:solidFill>
                  <a:srgbClr val="2C3E50"/>
                </a:solidFill>
              </a:rPr>
              <a:t>Clinical team training: ~2 hours.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Technical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49808"/>
            <a:ext cx="11430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ED6F1"/>
                </a:solidFill>
              </a:rPr>
              <a:t>Modern production-grade stack — $0/month operating cost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25880"/>
            <a:ext cx="5394960" cy="521208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444752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B3A6B"/>
                </a:solidFill>
              </a:rPr>
              <a:t>Tech Stack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993392"/>
            <a:ext cx="530352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2020824"/>
            <a:ext cx="2011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3A6B"/>
                </a:solidFill>
              </a:rPr>
              <a:t>⚡ Next.js 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87168" y="2039112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Full-stack React framework (frontend + backend)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523744"/>
            <a:ext cx="530352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1480" y="2551176"/>
            <a:ext cx="2011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3A6B"/>
                </a:solidFill>
              </a:rPr>
              <a:t>🔷 TypeScript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87168" y="2569464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2C3E50"/>
                </a:solidFill>
              </a:rPr>
              <a:t>Static typing — fewer bugs in production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054096"/>
            <a:ext cx="530352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1480" y="3081528"/>
            <a:ext cx="2011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3A6B"/>
                </a:solidFill>
              </a:rPr>
              <a:t>🗄️ Supabase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87168" y="3099815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PostgreSQL database + authentication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3584448"/>
            <a:ext cx="530352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1480" y="3611879"/>
            <a:ext cx="2011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3A6B"/>
                </a:solidFill>
              </a:rPr>
              <a:t>🎨 Tailwind CSS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87168" y="3630168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Responsive mobile-first design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4114800"/>
            <a:ext cx="530352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11480" y="4142231"/>
            <a:ext cx="2011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3A6B"/>
                </a:solidFill>
              </a:rPr>
              <a:t>🧩 Shadcn/UI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87168" y="4160520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Accessible, consistent UI components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4645152"/>
            <a:ext cx="530352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11480" y="4672583"/>
            <a:ext cx="2011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3A6B"/>
                </a:solidFill>
              </a:rPr>
              <a:t>☁️ Vercel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87168" y="4690872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Global hosting, CDN, auto-deploys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5175504"/>
            <a:ext cx="530352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11480" y="5202936"/>
            <a:ext cx="2011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3A6B"/>
                </a:solidFill>
              </a:rPr>
              <a:t>📴 Service Worker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87168" y="5221223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Offline-first PWA with background sync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0" y="1325880"/>
            <a:ext cx="5943600" cy="521208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126480" y="1444752"/>
            <a:ext cx="5577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B3A6B"/>
                </a:solidFill>
              </a:rPr>
              <a:t>Current Data Flow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80760" y="1965960"/>
            <a:ext cx="5577840" cy="5943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144768" y="2057400"/>
            <a:ext cx="54498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👤  User (browser)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58200" y="26517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E6DB4"/>
                </a:solidFill>
              </a:rPr>
              <a:t>↓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80760" y="2971800"/>
            <a:ext cx="5577840" cy="594360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144768" y="3063240"/>
            <a:ext cx="54498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📱  Next.js App (Vercel)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58200" y="36576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E6DB4"/>
                </a:solidFill>
              </a:rPr>
              <a:t>↓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80760" y="3977639"/>
            <a:ext cx="5577840" cy="594360"/>
          </a:xfrm>
          <a:prstGeom prst="rect">
            <a:avLst/>
          </a:prstGeom>
          <a:solidFill>
            <a:srgbClr val="1A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144768" y="4069079"/>
            <a:ext cx="54498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🔐  Supabase Auth  (JWT)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58200" y="46634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E6DB4"/>
                </a:solidFill>
              </a:rPr>
              <a:t>↓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80760" y="4983479"/>
            <a:ext cx="5577840" cy="594360"/>
          </a:xfrm>
          <a:prstGeom prst="rect">
            <a:avLst/>
          </a:prstGeom>
          <a:solidFill>
            <a:srgbClr val="0E6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144768" y="5074919"/>
            <a:ext cx="54498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🗄️  Supabase PostgreSQL  (RLS)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58200" y="5669279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E6DB4"/>
                </a:solidFill>
              </a:rPr>
              <a:t>↓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80760" y="5989319"/>
            <a:ext cx="5577840" cy="5943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144768" y="6080759"/>
            <a:ext cx="54498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📊  Dashboard / Excel Export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1997</Words>
  <Application>Microsoft Macintosh PowerPoint</Application>
  <PresentationFormat>Custom</PresentationFormat>
  <Paragraphs>445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Rocha Castellanos, Dario Missael</cp:lastModifiedBy>
  <cp:revision>2</cp:revision>
  <dcterms:created xsi:type="dcterms:W3CDTF">2013-01-27T09:14:16Z</dcterms:created>
  <dcterms:modified xsi:type="dcterms:W3CDTF">2026-03-25T18:45:14Z</dcterms:modified>
  <cp:category/>
</cp:coreProperties>
</file>